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3" r:id="rId6"/>
    <p:sldId id="259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9FE58-E355-4103-A458-37F1C891922D}" type="datetimeFigureOut">
              <a:rPr lang="fr-CH" smtClean="0"/>
              <a:t>11.11.2024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5EF26-FE13-44EB-9918-ABC89E78CFC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104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5EF26-FE13-44EB-9918-ABC89E78CFC2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20023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76C54E-E135-43AB-9B19-D0E369D0E8EF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3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7192-5387-4380-A3FC-0C24F5E8EE5E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3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131A3-1C06-4F0F-8FA7-467BD7C7DBAE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84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3C589-E1FC-426B-AA2A-608C6EE030FC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43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615A6-43D6-4042-AAC2-5170800268E8}" type="datetime1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43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7821-EB97-4578-92F4-15E8C34F6606}" type="datetime1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7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24759-C2EE-417B-A056-627387101344}" type="datetime1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4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E661-5678-4FAF-8CE6-C65B22E96202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51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CFD71-D854-4DB3-BEFD-2CEE86808AA9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9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D0602-4224-4F71-9500-87B21D123AFC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1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26135-27B7-4FF6-830E-92D874759C7E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75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4FE5-561B-4908-BB67-86F4185A31C7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23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86A10-BB90-4FF7-9126-BFEBCC809B99}" type="datetime1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07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D1F32-FF16-4669-9A19-A04DCB80854E}" type="datetime1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1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35825-3A6B-4186-9599-A2C3D7417A4D}" type="datetime1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63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973F-9354-47D6-B5B6-0DA3802D0DBA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37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93C9D-EB27-4F62-833E-AF10C113358B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6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6C1A9-85C6-42D9-A627-696B8AB5FFAF}" type="datetime1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40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D375EBC-9D0D-E4FB-899C-4B20A5D247E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rcRect t="40422" b="3311"/>
          <a:stretch/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4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6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7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8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29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30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31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32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33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34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  <p:sp>
            <p:nvSpPr>
              <p:cNvPr id="35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fr-CH" dirty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2B9E4D2-786A-8920-633A-DB01B8E75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2800" b="1" dirty="0"/>
              <a:t>Reconstruction of online writing </a:t>
            </a:r>
            <a:br>
              <a:rPr lang="en-US" sz="2800" b="1" dirty="0"/>
            </a:br>
            <a:r>
              <a:rPr lang="en-US" sz="2800" b="1" dirty="0"/>
              <a:t>signal from offline image</a:t>
            </a:r>
            <a:br>
              <a:rPr lang="en-US" sz="2800" b="1" dirty="0"/>
            </a:br>
            <a:br>
              <a:rPr lang="en-US" sz="1600" dirty="0"/>
            </a:br>
            <a:r>
              <a:rPr lang="en-US" sz="1600" dirty="0"/>
              <a:t>Can the time (t) be robustly inferred by a transformer architecture ?</a:t>
            </a:r>
            <a:endParaRPr lang="fr-CH" sz="1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679EEDA-C281-97D5-11ED-003DDA9BF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Status</a:t>
            </a:r>
            <a:r>
              <a:rPr lang="fr-FR" dirty="0"/>
              <a:t> Update</a:t>
            </a:r>
          </a:p>
          <a:p>
            <a:pPr algn="ctr"/>
            <a:r>
              <a:rPr lang="fr-FR" dirty="0"/>
              <a:t>11/11/2024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104873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973EEBC-CB31-6A71-CE65-ED9D59D5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fr-FR" sz="4000" dirty="0"/>
              <a:t>Objectives</a:t>
            </a:r>
            <a:endParaRPr lang="fr-CH" sz="40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674048-C491-BC21-A320-4AD7888AC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FR" sz="2800" dirty="0" err="1"/>
              <a:t>Based</a:t>
            </a:r>
            <a:r>
              <a:rPr lang="fr-FR" sz="2800" dirty="0"/>
              <a:t> on </a:t>
            </a:r>
            <a:r>
              <a:rPr lang="fr-FR" sz="2800" dirty="0" err="1"/>
              <a:t>existing</a:t>
            </a:r>
            <a:r>
              <a:rPr lang="fr-FR" sz="2800" dirty="0"/>
              <a:t> transformer </a:t>
            </a:r>
            <a:r>
              <a:rPr lang="fr-FR" sz="2800" dirty="0" err="1"/>
              <a:t>models</a:t>
            </a:r>
            <a:r>
              <a:rPr lang="fr-FR" sz="2800" dirty="0"/>
              <a:t>, </a:t>
            </a:r>
            <a:r>
              <a:rPr lang="fr-FR" sz="2800" dirty="0" err="1"/>
              <a:t>Assess</a:t>
            </a:r>
            <a:r>
              <a:rPr lang="fr-FR" sz="2800" dirty="0"/>
              <a:t> </a:t>
            </a:r>
            <a:r>
              <a:rPr lang="fr-FR" sz="2800" dirty="0" err="1"/>
              <a:t>trainability</a:t>
            </a:r>
            <a:r>
              <a:rPr lang="fr-FR" sz="2800" dirty="0"/>
              <a:t> of a transformer-</a:t>
            </a:r>
            <a:r>
              <a:rPr lang="fr-FR" sz="2800" dirty="0" err="1"/>
              <a:t>based</a:t>
            </a:r>
            <a:r>
              <a:rPr lang="fr-FR" sz="2800" dirty="0"/>
              <a:t> architecture in </a:t>
            </a:r>
            <a:r>
              <a:rPr lang="fr-FR" sz="2800" dirty="0" err="1"/>
              <a:t>infering</a:t>
            </a:r>
            <a:r>
              <a:rPr lang="fr-FR" sz="2800" dirty="0"/>
              <a:t> basic </a:t>
            </a:r>
            <a:r>
              <a:rPr lang="fr-FR" sz="2800" dirty="0" err="1"/>
              <a:t>pen</a:t>
            </a:r>
            <a:r>
              <a:rPr lang="fr-FR" sz="2800" dirty="0"/>
              <a:t> </a:t>
            </a:r>
            <a:r>
              <a:rPr lang="fr-FR" sz="2800" dirty="0" err="1"/>
              <a:t>kinematic</a:t>
            </a:r>
            <a:r>
              <a:rPr lang="fr-FR" sz="2800" dirty="0"/>
              <a:t>: Position and speed</a:t>
            </a:r>
            <a:endParaRPr lang="fr-CH" sz="28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D27B5FB5-9A87-D134-DD5A-58B9125F8A42}"/>
              </a:ext>
            </a:extLst>
          </p:cNvPr>
          <p:cNvSpPr txBox="1"/>
          <p:nvPr/>
        </p:nvSpPr>
        <p:spPr>
          <a:xfrm>
            <a:off x="10861866" y="6511131"/>
            <a:ext cx="54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2/8</a:t>
            </a:r>
            <a:endParaRPr lang="fr-CH" sz="1400" dirty="0"/>
          </a:p>
        </p:txBody>
      </p:sp>
    </p:spTree>
    <p:extLst>
      <p:ext uri="{BB962C8B-B14F-4D97-AF65-F5344CB8AC3E}">
        <p14:creationId xmlns:p14="http://schemas.microsoft.com/office/powerpoint/2010/main" val="168346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CH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BA663C3-D069-3BE9-FEE9-ADF1009B9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fr-FR" sz="4000" dirty="0"/>
              <a:t>Cluster</a:t>
            </a:r>
            <a:endParaRPr lang="fr-CH" sz="40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F21069-DB47-6F42-AA1E-B16DCE7BA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fr-FR" sz="1800" dirty="0"/>
              <a:t>Engineering </a:t>
            </a:r>
            <a:r>
              <a:rPr lang="fr-FR" sz="1800" dirty="0" err="1"/>
              <a:t>work</a:t>
            </a:r>
            <a:endParaRPr lang="fr-FR" sz="1800" dirty="0"/>
          </a:p>
          <a:p>
            <a:pPr lvl="1"/>
            <a:r>
              <a:rPr lang="fr-FR" sz="1800" dirty="0" err="1"/>
              <a:t>Dockerization</a:t>
            </a:r>
            <a:endParaRPr lang="fr-FR" sz="1800" dirty="0"/>
          </a:p>
          <a:p>
            <a:pPr lvl="1"/>
            <a:r>
              <a:rPr lang="fr-FR" sz="1800" dirty="0"/>
              <a:t>GPU drivers</a:t>
            </a:r>
          </a:p>
          <a:p>
            <a:pPr lvl="1"/>
            <a:r>
              <a:rPr lang="fr-FR" sz="1800" dirty="0"/>
              <a:t>Save </a:t>
            </a:r>
            <a:r>
              <a:rPr lang="fr-FR" sz="1800" dirty="0" err="1"/>
              <a:t>models</a:t>
            </a:r>
            <a:r>
              <a:rPr lang="fr-FR" sz="1800" dirty="0"/>
              <a:t>, images, ID</a:t>
            </a:r>
            <a:endParaRPr lang="fr-CH" sz="18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3D7F65A7-0225-9C6D-F18B-E46AF4BB986F}"/>
              </a:ext>
            </a:extLst>
          </p:cNvPr>
          <p:cNvSpPr txBox="1"/>
          <p:nvPr/>
        </p:nvSpPr>
        <p:spPr>
          <a:xfrm>
            <a:off x="10861866" y="6511131"/>
            <a:ext cx="54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3/8</a:t>
            </a:r>
            <a:endParaRPr lang="fr-CH" sz="1400" dirty="0"/>
          </a:p>
        </p:txBody>
      </p:sp>
    </p:spTree>
    <p:extLst>
      <p:ext uri="{BB962C8B-B14F-4D97-AF65-F5344CB8AC3E}">
        <p14:creationId xmlns:p14="http://schemas.microsoft.com/office/powerpoint/2010/main" val="80734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B1C6FC3-0FE6-4434-9E4B-EAFBA0A70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9156B579-F859-47C9-8CE6-6AA5A6D28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5D373606-D644-43C0-8B02-C662AABC39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F91339-3F26-4B01-8848-0F6E5575A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133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427B1D67-3EFB-4795-BC0A-61BC061C2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7571FBAA-7DDE-485C-BF13-85E6632D7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2C3516AC-3270-4ABA-A2BC-E8F32B8A9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F5FA18A4-61A5-473D-AEC7-9E909F8CF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C22DBFE3-3815-4E85-8A6B-9A0771223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B2F02F6C-35B9-40A1-ADD1-036A80BCF0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B5C332AB-BA01-4BBD-A363-4F5835545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6E313214-2528-4C88-8226-BB2A2E133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DF892018-DF6D-48D5-8AB7-5957595B55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93A850A7-4500-4CC7-A5FD-A1FA7993E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FACAA825-3475-43C7-ADCE-DB6FAADA5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00451685-350B-4B89-A512-13A23216B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04A404C7-A995-4BE4-8673-CA014AE11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0E534A8D-4535-4FED-B9CD-C0F0D6AF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F0A1DEDA-0C4E-4927-BFAF-02516CF53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B21E2F8B-1724-4328-B646-445DE4F1F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808DAA0B-E999-4DEC-BE7C-3F412C332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EBCE22A2-2EE0-4E15-8505-600937FEE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4D772DD9-073C-47A0-ADB9-7D2CFAECF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5C0B35F2-7DE3-4A0C-8C50-DA08120AB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F14C7442-00C7-49C1-AE8A-A719816AD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7CA8A798-2044-4FD0-8CBC-178C1BD8C3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6F446AA7-D2E4-4DF2-BB12-AD2DCC8E4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C00BD973-DDA6-4969-BFBC-2910297E24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05C12429-8F61-4D99-8793-3146BA57C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E461EF39-CD5C-4EB8-8D62-9E14932E6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93938A9D-031B-498C-AEE7-3D4A64AAD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3765635E-E9CA-438E-9AA1-5D5EFD497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21546E38-8BDD-49C3-B3AD-D4933FCBC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6D89E49E-3AB6-4DC0-91E7-92EF1C6A87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D1303FFC-7F2E-462B-B11D-86F3D81BF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DE25E1F8-55DE-4DC5-81A4-37DA75E4E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8CDED82A-A993-4523-9441-FCF49CB5D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C1AFE111-B375-493C-A21D-134FCBDBC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037BF4E5-6D6E-482A-A24A-E320E1D0E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38214D87-DD5D-4691-BF55-F27072701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6D3FBDE6-C313-4C44-B971-B34635468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F528E702-4734-4CAB-97C7-737D868F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88136305-A716-46EA-A45F-7787C694F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187204B-C8DD-44A6-AC1A-F21D18F66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9" name="Rectangle 45">
              <a:extLst>
                <a:ext uri="{FF2B5EF4-FFF2-40B4-BE49-F238E27FC236}">
                  <a16:creationId xmlns:a16="http://schemas.microsoft.com/office/drawing/2014/main" id="{6DD06B75-D598-40D9-B8BF-9721316E7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0" name="Freeform 46">
              <a:extLst>
                <a:ext uri="{FF2B5EF4-FFF2-40B4-BE49-F238E27FC236}">
                  <a16:creationId xmlns:a16="http://schemas.microsoft.com/office/drawing/2014/main" id="{E8D513EA-D2F2-4B72-8C9F-0F2ADA523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1" name="Freeform 47">
              <a:extLst>
                <a:ext uri="{FF2B5EF4-FFF2-40B4-BE49-F238E27FC236}">
                  <a16:creationId xmlns:a16="http://schemas.microsoft.com/office/drawing/2014/main" id="{0D147329-C850-46D8-9986-D14AC9140E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5573F0D3-BA73-4060-8D3B-07BEC55F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3" name="Freeform 49">
              <a:extLst>
                <a:ext uri="{FF2B5EF4-FFF2-40B4-BE49-F238E27FC236}">
                  <a16:creationId xmlns:a16="http://schemas.microsoft.com/office/drawing/2014/main" id="{5323672F-2475-40AC-8C0F-6CD7324B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4" name="Freeform 50">
              <a:extLst>
                <a:ext uri="{FF2B5EF4-FFF2-40B4-BE49-F238E27FC236}">
                  <a16:creationId xmlns:a16="http://schemas.microsoft.com/office/drawing/2014/main" id="{7B0EF5E8-887B-446C-9459-0707ECE3D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5" name="Freeform 51">
              <a:extLst>
                <a:ext uri="{FF2B5EF4-FFF2-40B4-BE49-F238E27FC236}">
                  <a16:creationId xmlns:a16="http://schemas.microsoft.com/office/drawing/2014/main" id="{29BE4652-0F1E-4519-8787-62EBB3D87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6" name="Freeform 52">
              <a:extLst>
                <a:ext uri="{FF2B5EF4-FFF2-40B4-BE49-F238E27FC236}">
                  <a16:creationId xmlns:a16="http://schemas.microsoft.com/office/drawing/2014/main" id="{4A268FBD-6879-416B-8AB0-73BF73637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7" name="Freeform 53">
              <a:extLst>
                <a:ext uri="{FF2B5EF4-FFF2-40B4-BE49-F238E27FC236}">
                  <a16:creationId xmlns:a16="http://schemas.microsoft.com/office/drawing/2014/main" id="{3D986CF2-B129-4550-A27B-8C82C9CAC9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8" name="Freeform 54">
              <a:extLst>
                <a:ext uri="{FF2B5EF4-FFF2-40B4-BE49-F238E27FC236}">
                  <a16:creationId xmlns:a16="http://schemas.microsoft.com/office/drawing/2014/main" id="{E340F934-32AF-4C03-9AFD-1D54DF4C1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69" name="Freeform 55">
              <a:extLst>
                <a:ext uri="{FF2B5EF4-FFF2-40B4-BE49-F238E27FC236}">
                  <a16:creationId xmlns:a16="http://schemas.microsoft.com/office/drawing/2014/main" id="{0D58128A-77AD-4168-874A-4CADD56CC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0" name="Freeform 56">
              <a:extLst>
                <a:ext uri="{FF2B5EF4-FFF2-40B4-BE49-F238E27FC236}">
                  <a16:creationId xmlns:a16="http://schemas.microsoft.com/office/drawing/2014/main" id="{1AA9BAAA-B13C-4A0A-BDED-AF91E0615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1" name="Freeform 57">
              <a:extLst>
                <a:ext uri="{FF2B5EF4-FFF2-40B4-BE49-F238E27FC236}">
                  <a16:creationId xmlns:a16="http://schemas.microsoft.com/office/drawing/2014/main" id="{9FC52BEC-DF15-46FD-9B22-B3CF0A3F6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72" name="Freeform 58">
              <a:extLst>
                <a:ext uri="{FF2B5EF4-FFF2-40B4-BE49-F238E27FC236}">
                  <a16:creationId xmlns:a16="http://schemas.microsoft.com/office/drawing/2014/main" id="{95ACC0BA-E65B-447A-B0FE-80BCFF4C3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A5CA1C8-D20C-AE97-97A0-6334FDFC2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1781" y="618518"/>
            <a:ext cx="2948240" cy="1478570"/>
          </a:xfrm>
        </p:spPr>
        <p:txBody>
          <a:bodyPr>
            <a:normAutofit/>
          </a:bodyPr>
          <a:lstStyle/>
          <a:p>
            <a:r>
              <a:rPr lang="fr-FR" sz="3200"/>
              <a:t>Skeleton loss</a:t>
            </a:r>
            <a:endParaRPr lang="fr-CH" sz="3200"/>
          </a:p>
        </p:txBody>
      </p:sp>
      <p:pic>
        <p:nvPicPr>
          <p:cNvPr id="7" name="Image 6" descr="Une image contenant texte, écriture manuscrite, Police, conception&#10;&#10;Description générée automatiquement">
            <a:extLst>
              <a:ext uri="{FF2B5EF4-FFF2-40B4-BE49-F238E27FC236}">
                <a16:creationId xmlns:a16="http://schemas.microsoft.com/office/drawing/2014/main" id="{EC838EA3-5945-1728-87D2-1FEBE7F478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1" r="-2" b="4399"/>
          <a:stretch/>
        </p:blipFill>
        <p:spPr>
          <a:xfrm>
            <a:off x="949" y="3447254"/>
            <a:ext cx="7558541" cy="3427413"/>
          </a:xfrm>
          <a:custGeom>
            <a:avLst/>
            <a:gdLst/>
            <a:ahLst/>
            <a:cxnLst/>
            <a:rect l="l" t="t" r="r" b="b"/>
            <a:pathLst>
              <a:path w="7558541" h="3427413">
                <a:moveTo>
                  <a:pt x="0" y="0"/>
                </a:moveTo>
                <a:lnTo>
                  <a:pt x="7558541" y="0"/>
                </a:lnTo>
                <a:lnTo>
                  <a:pt x="7558541" y="3427413"/>
                </a:lnTo>
                <a:lnTo>
                  <a:pt x="0" y="3427413"/>
                </a:lnTo>
                <a:close/>
              </a:path>
            </a:pathLst>
          </a:custGeom>
        </p:spPr>
      </p:pic>
      <p:pic>
        <p:nvPicPr>
          <p:cNvPr id="5" name="Espace réservé du contenu 4" descr="Une image contenant croquis, conception, illustration, noir et blanc&#10;&#10;Description générée automatiquement">
            <a:extLst>
              <a:ext uri="{FF2B5EF4-FFF2-40B4-BE49-F238E27FC236}">
                <a16:creationId xmlns:a16="http://schemas.microsoft.com/office/drawing/2014/main" id="{707E4128-8FA1-B3A4-BE14-6F58292F69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5" r="-2" b="3211"/>
          <a:stretch/>
        </p:blipFill>
        <p:spPr>
          <a:xfrm>
            <a:off x="0" y="9952"/>
            <a:ext cx="7558541" cy="3430587"/>
          </a:xfrm>
          <a:custGeom>
            <a:avLst/>
            <a:gdLst/>
            <a:ahLst/>
            <a:cxnLst/>
            <a:rect l="l" t="t" r="r" b="b"/>
            <a:pathLst>
              <a:path w="7558541" h="3430587">
                <a:moveTo>
                  <a:pt x="0" y="0"/>
                </a:moveTo>
                <a:lnTo>
                  <a:pt x="7558541" y="0"/>
                </a:lnTo>
                <a:lnTo>
                  <a:pt x="7558541" y="3430587"/>
                </a:lnTo>
                <a:lnTo>
                  <a:pt x="0" y="3430587"/>
                </a:lnTo>
                <a:close/>
              </a:path>
            </a:pathLst>
          </a:cu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7C722CB-1CE9-9B08-6039-EEA94DC46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1781" y="2249487"/>
            <a:ext cx="2948240" cy="3541714"/>
          </a:xfrm>
        </p:spPr>
        <p:txBody>
          <a:bodyPr>
            <a:normAutofit/>
          </a:bodyPr>
          <a:lstStyle/>
          <a:p>
            <a:r>
              <a:rPr lang="en-US" sz="1800" dirty="0"/>
              <a:t>Objective: </a:t>
            </a:r>
            <a:r>
              <a:rPr lang="en-US" sz="1800" dirty="0" err="1"/>
              <a:t>Smoothingthe</a:t>
            </a:r>
            <a:r>
              <a:rPr lang="en-US" sz="1800" dirty="0"/>
              <a:t> loss compared to pixel difference</a:t>
            </a:r>
            <a:endParaRPr lang="en-US" sz="1400" dirty="0"/>
          </a:p>
          <a:p>
            <a:r>
              <a:rPr lang="en-US" sz="1400" dirty="0"/>
              <a:t>Distance map</a:t>
            </a:r>
          </a:p>
          <a:p>
            <a:r>
              <a:rPr lang="en-US" sz="1400" dirty="0"/>
              <a:t>Normalization</a:t>
            </a:r>
          </a:p>
          <a:p>
            <a:r>
              <a:rPr lang="en-US" sz="1400" dirty="0"/>
              <a:t>Squared</a:t>
            </a:r>
          </a:p>
          <a:p>
            <a:r>
              <a:rPr lang="en-US" sz="1400" dirty="0"/>
              <a:t>Mask on predicted line</a:t>
            </a:r>
          </a:p>
          <a:p>
            <a:r>
              <a:rPr lang="en-US" sz="1400" dirty="0"/>
              <a:t>Sum of norm distances</a:t>
            </a:r>
            <a:endParaRPr lang="en-US" sz="1800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9CECD47-BAAC-4DB7-9799-B92EA5BDB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55895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2B5FFEC-000D-4A6E-A8E7-0549AD40B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7558541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16EBF1B4-C570-9CA0-88B1-AE3AF0AF7934}"/>
              </a:ext>
            </a:extLst>
          </p:cNvPr>
          <p:cNvSpPr txBox="1"/>
          <p:nvPr/>
        </p:nvSpPr>
        <p:spPr>
          <a:xfrm>
            <a:off x="10861866" y="6511131"/>
            <a:ext cx="54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4/8</a:t>
            </a:r>
            <a:endParaRPr lang="fr-CH" sz="1400" dirty="0"/>
          </a:p>
        </p:txBody>
      </p:sp>
    </p:spTree>
    <p:extLst>
      <p:ext uri="{BB962C8B-B14F-4D97-AF65-F5344CB8AC3E}">
        <p14:creationId xmlns:p14="http://schemas.microsoft.com/office/powerpoint/2010/main" val="150491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5BC303-744B-0DE3-795D-092A1CEAF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8295" y="525557"/>
            <a:ext cx="5755908" cy="1478570"/>
          </a:xfrm>
        </p:spPr>
        <p:txBody>
          <a:bodyPr>
            <a:normAutofit/>
          </a:bodyPr>
          <a:lstStyle/>
          <a:p>
            <a:r>
              <a:rPr lang="fr-FR" dirty="0" err="1"/>
              <a:t>Inference</a:t>
            </a:r>
            <a:r>
              <a:rPr lang="fr-FR" dirty="0"/>
              <a:t>-  </a:t>
            </a:r>
            <a:r>
              <a:rPr lang="fr-FR" dirty="0" err="1"/>
              <a:t>quantization</a:t>
            </a:r>
            <a:endParaRPr lang="fr-CH" dirty="0"/>
          </a:p>
        </p:txBody>
      </p:sp>
      <p:sp>
        <p:nvSpPr>
          <p:cNvPr id="14" name="Round Diagonal Corner Rectangle 9">
            <a:extLst>
              <a:ext uri="{FF2B5EF4-FFF2-40B4-BE49-F238E27FC236}">
                <a16:creationId xmlns:a16="http://schemas.microsoft.com/office/drawing/2014/main" id="{A3D1FEF8-5149-4AC1-8D77-B256637F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Rectangle, capture d’écran, prise&#10;&#10;Description générée automatiquement">
            <a:extLst>
              <a:ext uri="{FF2B5EF4-FFF2-40B4-BE49-F238E27FC236}">
                <a16:creationId xmlns:a16="http://schemas.microsoft.com/office/drawing/2014/main" id="{2CDD7E5F-258D-1186-1FC3-C2AE2873EA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88" y="1044366"/>
            <a:ext cx="4635583" cy="1089361"/>
          </a:xfrm>
          <a:prstGeom prst="rect">
            <a:avLst/>
          </a:prstGeom>
        </p:spPr>
      </p:pic>
      <p:pic>
        <p:nvPicPr>
          <p:cNvPr id="7" name="Image 6" descr="Une image contenant Rectangle, capture d’écran, texte, diagramme&#10;&#10;Description générée automatiquement">
            <a:extLst>
              <a:ext uri="{FF2B5EF4-FFF2-40B4-BE49-F238E27FC236}">
                <a16:creationId xmlns:a16="http://schemas.microsoft.com/office/drawing/2014/main" id="{2E39E71C-772E-6BFC-6710-DC4EE82AD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88" y="2454047"/>
            <a:ext cx="4635583" cy="1089361"/>
          </a:xfrm>
          <a:prstGeom prst="rect">
            <a:avLst/>
          </a:prstGeom>
        </p:spPr>
      </p:pic>
      <p:pic>
        <p:nvPicPr>
          <p:cNvPr id="12" name="Espace réservé du contenu 11" descr="Une image contenant horloge, cercle, capture d’écran&#10;&#10;Description générée automatiquement">
            <a:extLst>
              <a:ext uri="{FF2B5EF4-FFF2-40B4-BE49-F238E27FC236}">
                <a16:creationId xmlns:a16="http://schemas.microsoft.com/office/drawing/2014/main" id="{D7E8E2D2-655F-5518-E6E8-06BE96E7BC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954" y="4127786"/>
            <a:ext cx="1819275" cy="1485900"/>
          </a:xfr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7512917-890C-553C-77FE-58B20E2EB936}"/>
              </a:ext>
            </a:extLst>
          </p:cNvPr>
          <p:cNvSpPr txBox="1"/>
          <p:nvPr/>
        </p:nvSpPr>
        <p:spPr>
          <a:xfrm>
            <a:off x="6901314" y="1795134"/>
            <a:ext cx="44189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Model </a:t>
            </a:r>
            <a:r>
              <a:rPr lang="fr-FR" dirty="0" err="1"/>
              <a:t>needs</a:t>
            </a:r>
            <a:r>
              <a:rPr lang="fr-FR" dirty="0"/>
              <a:t> </a:t>
            </a:r>
            <a:r>
              <a:rPr lang="fr-FR" dirty="0" err="1"/>
              <a:t>continuous</a:t>
            </a:r>
            <a:r>
              <a:rPr lang="fr-FR" dirty="0"/>
              <a:t> 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Smooth</a:t>
            </a:r>
            <a:r>
              <a:rPr lang="fr-FR" dirty="0"/>
              <a:t> </a:t>
            </a:r>
            <a:r>
              <a:rPr lang="fr-FR" dirty="0" err="1"/>
              <a:t>losses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Sensitive / </a:t>
            </a:r>
            <a:r>
              <a:rPr lang="fr-FR" dirty="0" err="1"/>
              <a:t>react</a:t>
            </a:r>
            <a:r>
              <a:rPr lang="fr-FR" dirty="0"/>
              <a:t> to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Give</a:t>
            </a:r>
            <a:r>
              <a:rPr lang="fr-FR" dirty="0"/>
              <a:t> </a:t>
            </a:r>
            <a:r>
              <a:rPr lang="fr-FR" dirty="0" err="1"/>
              <a:t>meaningfull</a:t>
            </a:r>
            <a:r>
              <a:rPr lang="fr-FR" dirty="0"/>
              <a:t> feedbacks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Input </a:t>
            </a:r>
            <a:r>
              <a:rPr lang="fr-FR" dirty="0" err="1"/>
              <a:t>coordinates</a:t>
            </a:r>
            <a:r>
              <a:rPr lang="fr-FR" dirty="0"/>
              <a:t> are </a:t>
            </a:r>
            <a:r>
              <a:rPr lang="fr-FR" dirty="0" err="1"/>
              <a:t>discrete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Not </a:t>
            </a:r>
            <a:r>
              <a:rPr lang="fr-FR" dirty="0" err="1"/>
              <a:t>normalized</a:t>
            </a:r>
            <a:endParaRPr lang="fr-F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 err="1"/>
              <a:t>integer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[0, MAX_W/H]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Normalized</a:t>
            </a:r>
            <a:endParaRPr lang="fr-F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 err="1"/>
              <a:t>Float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[0,1]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step</a:t>
            </a:r>
            <a:r>
              <a:rPr lang="fr-FR" dirty="0"/>
              <a:t> 1/MAX_W/H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Inputs </a:t>
            </a:r>
            <a:r>
              <a:rPr lang="fr-FR" dirty="0" err="1"/>
              <a:t>never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infering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Solution: </a:t>
            </a:r>
            <a:r>
              <a:rPr lang="fr-FR" dirty="0" err="1"/>
              <a:t>quantizing</a:t>
            </a:r>
            <a:r>
              <a:rPr lang="fr-FR" dirty="0"/>
              <a:t> input </a:t>
            </a:r>
            <a:r>
              <a:rPr lang="fr-FR" dirty="0" err="1"/>
              <a:t>before</a:t>
            </a:r>
            <a:r>
              <a:rPr lang="fr-FR" dirty="0"/>
              <a:t> auto-</a:t>
            </a:r>
            <a:r>
              <a:rPr lang="fr-FR" dirty="0" err="1"/>
              <a:t>regression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Interesting</a:t>
            </a:r>
            <a:r>
              <a:rPr lang="fr-FR" dirty="0"/>
              <a:t>: </a:t>
            </a:r>
            <a:r>
              <a:rPr lang="fr-FR" dirty="0" err="1"/>
              <a:t>Correcting</a:t>
            </a:r>
            <a:r>
              <a:rPr lang="fr-FR" dirty="0"/>
              <a:t> on skeleton ?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832DE4F-62F8-3612-C823-6C8577DB3AA2}"/>
              </a:ext>
            </a:extLst>
          </p:cNvPr>
          <p:cNvSpPr txBox="1"/>
          <p:nvPr/>
        </p:nvSpPr>
        <p:spPr>
          <a:xfrm>
            <a:off x="10861866" y="6511131"/>
            <a:ext cx="54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5/8</a:t>
            </a:r>
            <a:endParaRPr lang="fr-CH" sz="1400" dirty="0"/>
          </a:p>
        </p:txBody>
      </p:sp>
    </p:spTree>
    <p:extLst>
      <p:ext uri="{BB962C8B-B14F-4D97-AF65-F5344CB8AC3E}">
        <p14:creationId xmlns:p14="http://schemas.microsoft.com/office/powerpoint/2010/main" val="139288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B614A-FFF0-62A9-E427-0EF40ECE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685529" cy="1478570"/>
          </a:xfrm>
        </p:spPr>
        <p:txBody>
          <a:bodyPr>
            <a:normAutofit/>
          </a:bodyPr>
          <a:lstStyle/>
          <a:p>
            <a:r>
              <a:rPr lang="fr-FR"/>
              <a:t>Divergence</a:t>
            </a:r>
            <a:endParaRPr lang="fr-CH" dirty="0"/>
          </a:p>
        </p:txBody>
      </p:sp>
      <p:sp>
        <p:nvSpPr>
          <p:cNvPr id="140" name="Content Placeholder 139">
            <a:extLst>
              <a:ext uri="{FF2B5EF4-FFF2-40B4-BE49-F238E27FC236}">
                <a16:creationId xmlns:a16="http://schemas.microsoft.com/office/drawing/2014/main" id="{CAC7BEF2-52CB-BC01-CAC9-E70661006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685530" cy="3541714"/>
          </a:xfrm>
        </p:spPr>
        <p:txBody>
          <a:bodyPr>
            <a:normAutofit lnSpcReduction="10000"/>
          </a:bodyPr>
          <a:lstStyle/>
          <a:p>
            <a:r>
              <a:rPr lang="en-US" sz="2300" dirty="0"/>
              <a:t>Learning rate 1e-3</a:t>
            </a:r>
          </a:p>
          <a:p>
            <a:pPr lvl="1"/>
            <a:r>
              <a:rPr lang="en-US" sz="1900" dirty="0"/>
              <a:t>Sudden explosion of the losses</a:t>
            </a:r>
          </a:p>
          <a:p>
            <a:r>
              <a:rPr lang="en-US" sz="2300" dirty="0"/>
              <a:t>Deletion of EOS loss</a:t>
            </a:r>
          </a:p>
          <a:p>
            <a:pPr lvl="1"/>
            <a:r>
              <a:rPr lang="en-US" sz="1900" dirty="0"/>
              <a:t>Confusing model ?</a:t>
            </a:r>
          </a:p>
          <a:p>
            <a:pPr lvl="1"/>
            <a:endParaRPr lang="en-US" sz="1900" dirty="0"/>
          </a:p>
          <a:p>
            <a:r>
              <a:rPr lang="en-US" sz="2300" dirty="0"/>
              <a:t>Lower learning rate (~1e-4)</a:t>
            </a:r>
          </a:p>
          <a:p>
            <a:pPr lvl="1"/>
            <a:r>
              <a:rPr lang="en-US" sz="1900" dirty="0"/>
              <a:t>Bad batches less impactful</a:t>
            </a:r>
          </a:p>
          <a:p>
            <a:pPr lvl="1"/>
            <a:r>
              <a:rPr lang="en-US" sz="1900" dirty="0"/>
              <a:t>Model corrects itself</a:t>
            </a:r>
          </a:p>
          <a:p>
            <a:endParaRPr lang="en-US" sz="23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742C426-FCE7-4673-BC1D-7E7D3A5FD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12700" dir="1080000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 11" descr="Une image contenant texte, capture d’écran, diagramme, ligne&#10;&#10;Description générée automatiquement">
            <a:extLst>
              <a:ext uri="{FF2B5EF4-FFF2-40B4-BE49-F238E27FC236}">
                <a16:creationId xmlns:a16="http://schemas.microsoft.com/office/drawing/2014/main" id="{4FD1482B-E4EC-0BD9-B79D-E6CDE4447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841" y="3474720"/>
            <a:ext cx="4488337" cy="3366251"/>
          </a:xfrm>
          <a:prstGeom prst="rect">
            <a:avLst/>
          </a:prstGeom>
        </p:spPr>
      </p:pic>
      <p:sp useBgFill="1">
        <p:nvSpPr>
          <p:cNvPr id="150" name="Rectangle 149">
            <a:extLst>
              <a:ext uri="{FF2B5EF4-FFF2-40B4-BE49-F238E27FC236}">
                <a16:creationId xmlns:a16="http://schemas.microsoft.com/office/drawing/2014/main" id="{10C239E5-48CB-4DB3-A778-3A01C488E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8280" y="0"/>
            <a:ext cx="91440" cy="3474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1" name="Rectangle 150">
            <a:extLst>
              <a:ext uri="{FF2B5EF4-FFF2-40B4-BE49-F238E27FC236}">
                <a16:creationId xmlns:a16="http://schemas.microsoft.com/office/drawing/2014/main" id="{8D450192-3830-4F04-A1C0-F684D80AB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3383280"/>
            <a:ext cx="6096002" cy="91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Espace réservé du contenu 8" descr="Une image contenant texte, capture d’écran, Tracé, diagramme&#10;&#10;Description générée automatiquement">
            <a:extLst>
              <a:ext uri="{FF2B5EF4-FFF2-40B4-BE49-F238E27FC236}">
                <a16:creationId xmlns:a16="http://schemas.microsoft.com/office/drawing/2014/main" id="{90D83D25-4881-FD1A-3B9B-593BE1F1CA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720" y="565785"/>
            <a:ext cx="3002280" cy="2251710"/>
          </a:xfrm>
          <a:prstGeom prst="rect">
            <a:avLst/>
          </a:prstGeom>
        </p:spPr>
      </p:pic>
      <p:pic>
        <p:nvPicPr>
          <p:cNvPr id="17" name="Image 16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E9B2E4A5-9E97-9439-EAD4-28B540346A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565785"/>
            <a:ext cx="3002281" cy="2251710"/>
          </a:xfrm>
          <a:prstGeom prst="rect">
            <a:avLst/>
          </a:prstGeom>
        </p:spPr>
      </p:pic>
      <p:sp>
        <p:nvSpPr>
          <p:cNvPr id="75" name="ZoneTexte 74">
            <a:extLst>
              <a:ext uri="{FF2B5EF4-FFF2-40B4-BE49-F238E27FC236}">
                <a16:creationId xmlns:a16="http://schemas.microsoft.com/office/drawing/2014/main" id="{4B234026-BBDC-056B-6375-A4C1C28F0C8A}"/>
              </a:ext>
            </a:extLst>
          </p:cNvPr>
          <p:cNvSpPr txBox="1"/>
          <p:nvPr/>
        </p:nvSpPr>
        <p:spPr>
          <a:xfrm>
            <a:off x="11347943" y="6533194"/>
            <a:ext cx="54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6/8</a:t>
            </a:r>
            <a:endParaRPr lang="fr-CH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79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5848031-6A17-D1B0-0AB9-9C87633B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fr-FR" sz="3200" dirty="0">
                <a:solidFill>
                  <a:srgbClr val="FFFFFF"/>
                </a:solidFill>
              </a:rPr>
              <a:t>Medium </a:t>
            </a:r>
            <a:r>
              <a:rPr lang="fr-FR" sz="3200" dirty="0" err="1">
                <a:solidFill>
                  <a:srgbClr val="FFFFFF"/>
                </a:solidFill>
              </a:rPr>
              <a:t>scale</a:t>
            </a:r>
            <a:r>
              <a:rPr lang="fr-FR" sz="3200" dirty="0">
                <a:solidFill>
                  <a:srgbClr val="FFFFFF"/>
                </a:solidFill>
              </a:rPr>
              <a:t> training</a:t>
            </a:r>
            <a:endParaRPr lang="fr-CH" sz="3200" dirty="0">
              <a:solidFill>
                <a:srgbClr val="FFFFFF"/>
              </a:solidFill>
            </a:endParaRPr>
          </a:p>
        </p:txBody>
      </p:sp>
      <p:pic>
        <p:nvPicPr>
          <p:cNvPr id="7" name="Espace réservé du contenu 6" descr="Une image contenant texte, ligne, capture d’écran, Tracé&#10;&#10;Description générée automatiquement">
            <a:extLst>
              <a:ext uri="{FF2B5EF4-FFF2-40B4-BE49-F238E27FC236}">
                <a16:creationId xmlns:a16="http://schemas.microsoft.com/office/drawing/2014/main" id="{25ECC3FB-0CE8-DC96-057B-C8F4C45B6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0"/>
          <a:stretch/>
        </p:blipFill>
        <p:spPr>
          <a:xfrm>
            <a:off x="6977501" y="182451"/>
            <a:ext cx="2862263" cy="1922576"/>
          </a:xfr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CH"/>
            </a:p>
          </p:txBody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pic>
        <p:nvPicPr>
          <p:cNvPr id="5" name="Espace réservé du contenu 4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42D6E2F0-D9B7-FEE7-BD76-515B9A9FA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79" y="2157148"/>
            <a:ext cx="6198308" cy="464873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7F82FC0-E4F7-6147-D745-3632A50765B7}"/>
              </a:ext>
            </a:extLst>
          </p:cNvPr>
          <p:cNvSpPr txBox="1"/>
          <p:nvPr/>
        </p:nvSpPr>
        <p:spPr>
          <a:xfrm>
            <a:off x="906108" y="2156196"/>
            <a:ext cx="285141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10% of BRUSH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Batch size 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Patches (16,16)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</a:rPr>
              <a:t>Embedding</a:t>
            </a:r>
            <a:r>
              <a:rPr lang="fr-FR" dirty="0">
                <a:solidFill>
                  <a:schemeClr val="bg1"/>
                </a:solidFill>
              </a:rPr>
              <a:t> size 256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Encoder </a:t>
            </a:r>
            <a:r>
              <a:rPr lang="fr-FR" dirty="0" err="1">
                <a:solidFill>
                  <a:schemeClr val="bg1"/>
                </a:solidFill>
              </a:rPr>
              <a:t>heads</a:t>
            </a:r>
            <a:r>
              <a:rPr lang="fr-FR" dirty="0">
                <a:solidFill>
                  <a:schemeClr val="bg1"/>
                </a:solidFill>
              </a:rPr>
              <a:t> 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Encoder </a:t>
            </a:r>
            <a:r>
              <a:rPr lang="fr-FR" dirty="0" err="1">
                <a:solidFill>
                  <a:schemeClr val="bg1"/>
                </a:solidFill>
              </a:rPr>
              <a:t>layers</a:t>
            </a:r>
            <a:r>
              <a:rPr lang="fr-FR" dirty="0">
                <a:solidFill>
                  <a:schemeClr val="bg1"/>
                </a:solidFill>
              </a:rPr>
              <a:t>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No LSTM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No </a:t>
            </a:r>
            <a:r>
              <a:rPr lang="fr-FR" dirty="0" err="1">
                <a:solidFill>
                  <a:schemeClr val="bg1"/>
                </a:solidFill>
              </a:rPr>
              <a:t>Pred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token</a:t>
            </a: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LR 5</a:t>
            </a:r>
            <a:r>
              <a:rPr lang="fr-FR" baseline="30000" dirty="0">
                <a:solidFill>
                  <a:schemeClr val="bg1"/>
                </a:solidFill>
              </a:rPr>
              <a:t>e</a:t>
            </a:r>
            <a:r>
              <a:rPr lang="fr-FR" dirty="0">
                <a:solidFill>
                  <a:schemeClr val="bg1"/>
                </a:solidFill>
              </a:rPr>
              <a:t>-3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Dropout 0.05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  <a:p>
            <a:r>
              <a:rPr lang="fr-FR" b="1" dirty="0" err="1">
                <a:solidFill>
                  <a:schemeClr val="bg1"/>
                </a:solidFill>
              </a:rPr>
              <a:t>Demo</a:t>
            </a:r>
            <a:endParaRPr lang="fr-CH" b="1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D716749-F864-30A2-A284-93DF7890F97A}"/>
              </a:ext>
            </a:extLst>
          </p:cNvPr>
          <p:cNvSpPr txBox="1"/>
          <p:nvPr/>
        </p:nvSpPr>
        <p:spPr>
          <a:xfrm>
            <a:off x="11347943" y="6533194"/>
            <a:ext cx="54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7/8</a:t>
            </a:r>
            <a:endParaRPr lang="fr-CH" sz="1400" dirty="0"/>
          </a:p>
        </p:txBody>
      </p:sp>
    </p:spTree>
    <p:extLst>
      <p:ext uri="{BB962C8B-B14F-4D97-AF65-F5344CB8AC3E}">
        <p14:creationId xmlns:p14="http://schemas.microsoft.com/office/powerpoint/2010/main" val="175299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1EEE6-B33B-F624-C105-C2259F87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Larger</a:t>
            </a:r>
            <a:r>
              <a:rPr lang="fr-FR" dirty="0"/>
              <a:t> </a:t>
            </a:r>
            <a:r>
              <a:rPr lang="fr-FR" dirty="0" err="1"/>
              <a:t>scale</a:t>
            </a:r>
            <a:r>
              <a:rPr lang="fr-FR" dirty="0"/>
              <a:t> Training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4F9C66-1013-E967-D6CF-26D439484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Iterative</a:t>
            </a:r>
            <a:r>
              <a:rPr lang="fr-FR" dirty="0"/>
              <a:t> training</a:t>
            </a:r>
          </a:p>
          <a:p>
            <a:r>
              <a:rPr lang="fr-FR" dirty="0"/>
              <a:t>Progressive </a:t>
            </a:r>
            <a:r>
              <a:rPr lang="fr-FR" dirty="0" err="1"/>
              <a:t>loading</a:t>
            </a:r>
            <a:r>
              <a:rPr lang="fr-FR" dirty="0"/>
              <a:t> of </a:t>
            </a:r>
            <a:r>
              <a:rPr lang="fr-FR" dirty="0" err="1"/>
              <a:t>dataset</a:t>
            </a:r>
            <a:endParaRPr lang="fr-FR" dirty="0"/>
          </a:p>
          <a:p>
            <a:r>
              <a:rPr lang="fr-FR" dirty="0" err="1"/>
              <a:t>RayTune</a:t>
            </a:r>
            <a:endParaRPr lang="fr-CH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43FEDB0-6981-F019-5E8F-98914AFC8C49}"/>
              </a:ext>
            </a:extLst>
          </p:cNvPr>
          <p:cNvSpPr txBox="1"/>
          <p:nvPr/>
        </p:nvSpPr>
        <p:spPr>
          <a:xfrm>
            <a:off x="10861866" y="6511131"/>
            <a:ext cx="541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8/8</a:t>
            </a:r>
            <a:endParaRPr lang="fr-CH" sz="1400" dirty="0"/>
          </a:p>
        </p:txBody>
      </p:sp>
    </p:spTree>
    <p:extLst>
      <p:ext uri="{BB962C8B-B14F-4D97-AF65-F5344CB8AC3E}">
        <p14:creationId xmlns:p14="http://schemas.microsoft.com/office/powerpoint/2010/main" val="19110536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946</TotalTime>
  <Words>229</Words>
  <Application>Microsoft Office PowerPoint</Application>
  <PresentationFormat>Grand écran</PresentationFormat>
  <Paragraphs>65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Arial</vt:lpstr>
      <vt:lpstr>Tw Cen MT</vt:lpstr>
      <vt:lpstr>Circuit</vt:lpstr>
      <vt:lpstr>Reconstruction of online writing  signal from offline image  Can the time (t) be robustly inferred by a transformer architecture ?</vt:lpstr>
      <vt:lpstr>Objectives</vt:lpstr>
      <vt:lpstr>Cluster</vt:lpstr>
      <vt:lpstr>Skeleton loss</vt:lpstr>
      <vt:lpstr>Inference-  quantization</vt:lpstr>
      <vt:lpstr>Divergence</vt:lpstr>
      <vt:lpstr>Medium scale training</vt:lpstr>
      <vt:lpstr>Larger scale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Welcklen</dc:creator>
  <cp:lastModifiedBy>Maxime Welcklen</cp:lastModifiedBy>
  <cp:revision>41</cp:revision>
  <dcterms:created xsi:type="dcterms:W3CDTF">2024-10-18T07:51:39Z</dcterms:created>
  <dcterms:modified xsi:type="dcterms:W3CDTF">2024-11-11T09:58:59Z</dcterms:modified>
</cp:coreProperties>
</file>