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1"/>
  </p:notesMasterIdLst>
  <p:sldIdLst>
    <p:sldId id="256" r:id="rId2"/>
    <p:sldId id="257" r:id="rId3"/>
    <p:sldId id="267" r:id="rId4"/>
    <p:sldId id="258" r:id="rId5"/>
    <p:sldId id="259" r:id="rId6"/>
    <p:sldId id="260" r:id="rId7"/>
    <p:sldId id="268" r:id="rId8"/>
    <p:sldId id="263" r:id="rId9"/>
    <p:sldId id="264" r:id="rId10"/>
    <p:sldId id="269" r:id="rId11"/>
    <p:sldId id="275" r:id="rId12"/>
    <p:sldId id="276" r:id="rId13"/>
    <p:sldId id="278" r:id="rId14"/>
    <p:sldId id="280" r:id="rId15"/>
    <p:sldId id="281" r:id="rId16"/>
    <p:sldId id="265" r:id="rId17"/>
    <p:sldId id="282" r:id="rId18"/>
    <p:sldId id="283" r:id="rId19"/>
    <p:sldId id="284" r:id="rId20"/>
    <p:sldId id="261" r:id="rId21"/>
    <p:sldId id="270" r:id="rId22"/>
    <p:sldId id="285" r:id="rId23"/>
    <p:sldId id="286" r:id="rId24"/>
    <p:sldId id="287" r:id="rId25"/>
    <p:sldId id="288" r:id="rId26"/>
    <p:sldId id="262" r:id="rId27"/>
    <p:sldId id="290" r:id="rId28"/>
    <p:sldId id="292" r:id="rId29"/>
    <p:sldId id="291" r:id="rId30"/>
    <p:sldId id="293" r:id="rId31"/>
    <p:sldId id="294" r:id="rId32"/>
    <p:sldId id="289" r:id="rId33"/>
    <p:sldId id="295" r:id="rId34"/>
    <p:sldId id="297" r:id="rId35"/>
    <p:sldId id="296" r:id="rId36"/>
    <p:sldId id="266" r:id="rId37"/>
    <p:sldId id="271" r:id="rId38"/>
    <p:sldId id="272" r:id="rId39"/>
    <p:sldId id="27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2010" autoAdjust="0"/>
  </p:normalViewPr>
  <p:slideViewPr>
    <p:cSldViewPr snapToGrid="0">
      <p:cViewPr>
        <p:scale>
          <a:sx n="100" d="100"/>
          <a:sy n="100" d="100"/>
        </p:scale>
        <p:origin x="360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588E9-997E-4E1F-BFAF-6E7E37DD51EC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573AD-91BF-4432-BAFF-D2BA8258B60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858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573AD-91BF-4432-BAFF-D2BA8258B604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7828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10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0229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3841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5491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5418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24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796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417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4055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356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11108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9965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8367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69650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99999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6174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452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3674F5D-3FC4-4CA1-BE6A-DD8E667556E0}" type="datetimeFigureOut">
              <a:rPr lang="fr-CH" smtClean="0"/>
              <a:t>20.01.2025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B08410D-E956-45B7-91CF-B4387489656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596865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7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iel, fournitures de bureau, Article de bureau, personne&#10;&#10;Description générée automatiquement">
            <a:extLst>
              <a:ext uri="{FF2B5EF4-FFF2-40B4-BE49-F238E27FC236}">
                <a16:creationId xmlns:a16="http://schemas.microsoft.com/office/drawing/2014/main" id="{7B1616FB-EFF0-FA49-9CF0-D8CEEFDC84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EB3FCA5-E8FF-3E8A-F408-F392D929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16" y="943951"/>
            <a:ext cx="6720683" cy="234789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Handwriting: Reconstruction of online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signal from offline image</a:t>
            </a:r>
            <a:endParaRPr lang="fr-CH" sz="4000" dirty="0">
              <a:solidFill>
                <a:schemeClr val="tx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584901-D7BF-CBF0-C9C2-7266A0DEF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16" y="3515508"/>
            <a:ext cx="5993096" cy="654156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Can the pen kinematic be robustly inferred by a transformer architecture ?</a:t>
            </a:r>
            <a:endParaRPr lang="fr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5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956D6BE-9F42-4257-AF86-F7ADD2F93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6616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2837CF7-EFEC-4B29-A2F8-CE22A481B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53400" cy="6858000"/>
          </a:xfrm>
          <a:prstGeom prst="rect">
            <a:avLst/>
          </a:prstGeom>
          <a:ln>
            <a:noFill/>
          </a:ln>
          <a:effectLst>
            <a:outerShdw blurRad="1397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3D0D11-B3F9-FF0A-9229-BCE794FA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401629"/>
            <a:ext cx="666205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Set, Sort !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57839A8-5A37-9E72-0A09-F89F005EF9E5}"/>
              </a:ext>
            </a:extLst>
          </p:cNvPr>
          <p:cNvSpPr txBox="1"/>
          <p:nvPr/>
        </p:nvSpPr>
        <p:spPr>
          <a:xfrm>
            <a:off x="509016" y="2137279"/>
            <a:ext cx="6184314" cy="2583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Doctoral thesis January 2024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Transformer-based architecture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Notion of </a:t>
            </a:r>
            <a:r>
              <a:rPr lang="en-US" sz="24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Dructus</a:t>
            </a:r>
            <a:endParaRPr lang="en-US" sz="2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Ordering of </a:t>
            </a:r>
            <a:r>
              <a:rPr lang="en-US" sz="24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substrokes</a:t>
            </a:r>
            <a:endParaRPr lang="en-US" sz="2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D60D285-0040-CC9D-BE1F-1CBFF913B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704" y="4848409"/>
            <a:ext cx="3208615" cy="96258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2724674-FDA4-A98C-CEA8-69B17FF95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189" y="2465193"/>
            <a:ext cx="3205897" cy="1635006"/>
          </a:xfrm>
          <a:prstGeom prst="rect">
            <a:avLst/>
          </a:prstGeom>
        </p:spPr>
      </p:pic>
      <p:pic>
        <p:nvPicPr>
          <p:cNvPr id="17" name="Espace réservé du contenu 4">
            <a:extLst>
              <a:ext uri="{FF2B5EF4-FFF2-40B4-BE49-F238E27FC236}">
                <a16:creationId xmlns:a16="http://schemas.microsoft.com/office/drawing/2014/main" id="{9A0F1A61-5573-CAEB-DA65-0405C1225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3020" y="786855"/>
            <a:ext cx="2880236" cy="109932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CC37EBF5-7493-1BFA-D96A-F151C4D57BFC}"/>
              </a:ext>
            </a:extLst>
          </p:cNvPr>
          <p:cNvSpPr txBox="1"/>
          <p:nvPr/>
        </p:nvSpPr>
        <p:spPr>
          <a:xfrm>
            <a:off x="557045" y="4610664"/>
            <a:ext cx="66453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i="1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“Important to have the online signal directly in the output and not a </a:t>
            </a:r>
            <a:r>
              <a:rPr lang="en-US" sz="2000" b="1" i="1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substrokes</a:t>
            </a:r>
            <a:r>
              <a:rPr lang="en-US" sz="2000" b="1" i="1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 representation […] The ultimate objective is without a doubt to evolve to a system that can transform a whole page of text into an online signal.”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203AB0-C1FB-2B29-B1C4-A60305CC41A3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C7079249-B4D1-1D20-8EB7-09B981950D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F02075C-20BC-2C00-CFBC-D8F485795202}"/>
              </a:ext>
            </a:extLst>
          </p:cNvPr>
          <p:cNvSpPr txBox="1"/>
          <p:nvPr/>
        </p:nvSpPr>
        <p:spPr>
          <a:xfrm>
            <a:off x="11792319" y="6566897"/>
            <a:ext cx="454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</a:rPr>
              <a:t>2/39</a:t>
            </a:r>
            <a:endParaRPr lang="fr-CH" sz="105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14AFD02-E404-0EE9-42D6-38526DE0C715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</p:spTree>
    <p:extLst>
      <p:ext uri="{BB962C8B-B14F-4D97-AF65-F5344CB8AC3E}">
        <p14:creationId xmlns:p14="http://schemas.microsoft.com/office/powerpoint/2010/main" val="211123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591E3-8996-57BC-6E52-31304D21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A986E-AB99-A900-C363-8C6EAE45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401629"/>
            <a:ext cx="1099413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Computer Vision for Historical documents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6E68FD-4867-7DAD-0AD2-B047CD91C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7" t="4323" r="1"/>
          <a:stretch/>
        </p:blipFill>
        <p:spPr>
          <a:xfrm>
            <a:off x="3970855" y="4534368"/>
            <a:ext cx="2904229" cy="175909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1A7878C-2B11-8795-5EF2-2D1F8E567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812" y="1554894"/>
            <a:ext cx="5185392" cy="175909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40A9210-3E71-EC12-2F03-760745428361}"/>
              </a:ext>
            </a:extLst>
          </p:cNvPr>
          <p:cNvSpPr txBox="1"/>
          <p:nvPr/>
        </p:nvSpPr>
        <p:spPr>
          <a:xfrm>
            <a:off x="521209" y="4539137"/>
            <a:ext cx="33209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Herculaneum </a:t>
            </a:r>
            <a:r>
              <a:rPr lang="fr-FR" dirty="0" err="1"/>
              <a:t>burnt</a:t>
            </a:r>
            <a:r>
              <a:rPr lang="fr-FR" dirty="0"/>
              <a:t> papyrus</a:t>
            </a:r>
          </a:p>
          <a:p>
            <a:r>
              <a:rPr lang="fr-FR" dirty="0"/>
              <a:t>	1’800 </a:t>
            </a:r>
            <a:r>
              <a:rPr lang="fr-FR" dirty="0" err="1"/>
              <a:t>scrolls</a:t>
            </a:r>
            <a:endParaRPr lang="fr-FR" dirty="0"/>
          </a:p>
          <a:p>
            <a:endParaRPr lang="fr-FR" dirty="0"/>
          </a:p>
          <a:p>
            <a:r>
              <a:rPr lang="fr-FR" dirty="0"/>
              <a:t>Computer Vision challenge, 2022</a:t>
            </a:r>
          </a:p>
          <a:p>
            <a:endParaRPr lang="fr-FR" dirty="0"/>
          </a:p>
          <a:p>
            <a:r>
              <a:rPr lang="fr-FR" dirty="0" err="1"/>
              <a:t>Decypher</a:t>
            </a:r>
            <a:r>
              <a:rPr lang="fr-FR" dirty="0"/>
              <a:t> </a:t>
            </a:r>
            <a:r>
              <a:rPr lang="fr-FR" dirty="0" err="1"/>
              <a:t>words</a:t>
            </a:r>
            <a:endParaRPr lang="fr-CH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AF34496-44EE-32A9-F531-46F52EF60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" y="1557279"/>
            <a:ext cx="4263442" cy="270337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D728221-C5A4-C905-FB00-56D0533EB1DC}"/>
              </a:ext>
            </a:extLst>
          </p:cNvPr>
          <p:cNvSpPr txBox="1"/>
          <p:nvPr/>
        </p:nvSpPr>
        <p:spPr>
          <a:xfrm>
            <a:off x="7186818" y="3429000"/>
            <a:ext cx="41143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University of Basel</a:t>
            </a:r>
          </a:p>
          <a:p>
            <a:r>
              <a:rPr lang="en-US" dirty="0"/>
              <a:t>Department of Ancient Civilizations</a:t>
            </a:r>
          </a:p>
          <a:p>
            <a:endParaRPr lang="en-US" dirty="0"/>
          </a:p>
          <a:p>
            <a:r>
              <a:rPr lang="en-US" dirty="0"/>
              <a:t>EGRAPSA: Retracing the evolutions of handwritings in Graeco-Roman Egypt thanks to digital </a:t>
            </a:r>
            <a:r>
              <a:rPr lang="en-US" dirty="0" err="1"/>
              <a:t>palaeography</a:t>
            </a:r>
            <a:endParaRPr lang="en-US" dirty="0"/>
          </a:p>
          <a:p>
            <a:endParaRPr lang="en-US" dirty="0"/>
          </a:p>
          <a:p>
            <a:r>
              <a:rPr lang="en-US" i="1" dirty="0"/>
              <a:t>I have written</a:t>
            </a:r>
          </a:p>
          <a:p>
            <a:endParaRPr lang="en-US" dirty="0"/>
          </a:p>
          <a:p>
            <a:r>
              <a:rPr lang="en-US" dirty="0"/>
              <a:t>80’000 papyri, ancient Greek</a:t>
            </a:r>
            <a:endParaRPr lang="fr-CH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427816-19F9-72A2-3B9F-F8231865E5DF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F7135A97-C5E8-1BE9-DF3B-5617C17EFE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ADBBA9E-3795-379B-882A-2335818678DF}"/>
              </a:ext>
            </a:extLst>
          </p:cNvPr>
          <p:cNvSpPr txBox="1"/>
          <p:nvPr/>
        </p:nvSpPr>
        <p:spPr>
          <a:xfrm>
            <a:off x="11792319" y="6566897"/>
            <a:ext cx="454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3/39</a:t>
            </a:r>
            <a:endParaRPr lang="fr-CH" sz="105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E53C5F-4F97-529F-CC44-3604FCC8A94B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</p:spTree>
    <p:extLst>
      <p:ext uri="{BB962C8B-B14F-4D97-AF65-F5344CB8AC3E}">
        <p14:creationId xmlns:p14="http://schemas.microsoft.com/office/powerpoint/2010/main" val="50448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85486D-9A5A-5106-2999-E1B93EF87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fr-FR" sz="4000">
                <a:solidFill>
                  <a:schemeClr val="tx1">
                    <a:lumMod val="95000"/>
                  </a:schemeClr>
                </a:solidFill>
              </a:rPr>
              <a:t>Objectives</a:t>
            </a:r>
            <a:endParaRPr lang="fr-CH" sz="400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9D38BF3-06CC-0464-9EFE-CC3C0A877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1115786"/>
            <a:ext cx="5208161" cy="4626428"/>
          </a:xfrm>
        </p:spPr>
        <p:txBody>
          <a:bodyPr anchor="ctr">
            <a:normAutofit/>
          </a:bodyPr>
          <a:lstStyle/>
          <a:p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Create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Online signal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from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Offline data</a:t>
            </a:r>
          </a:p>
          <a:p>
            <a:endParaRPr lang="fr-FR" sz="20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Use a Transformer-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based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architecture</a:t>
            </a:r>
          </a:p>
          <a:p>
            <a:endParaRPr lang="fr-FR" sz="20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Investigate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the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inference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capacities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over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handwriting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Speed /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Trajectories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68E0CD-F6C8-691F-6E7F-E7711E0E3776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4" name="Image 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5E85C69A-BB66-1EA4-9D3E-102F04FC3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38137B8-93E1-5068-841E-CA888D49A671}"/>
              </a:ext>
            </a:extLst>
          </p:cNvPr>
          <p:cNvSpPr txBox="1"/>
          <p:nvPr/>
        </p:nvSpPr>
        <p:spPr>
          <a:xfrm>
            <a:off x="11792319" y="6566897"/>
            <a:ext cx="454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4/39</a:t>
            </a:r>
            <a:endParaRPr lang="fr-CH" sz="105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74186AA-042F-E2B9-F5AE-808A8B1E9E96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</p:spTree>
    <p:extLst>
      <p:ext uri="{BB962C8B-B14F-4D97-AF65-F5344CB8AC3E}">
        <p14:creationId xmlns:p14="http://schemas.microsoft.com/office/powerpoint/2010/main" val="306385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523EBD-0863-8530-1B34-F97EBB028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of contents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874801-78A4-3B4E-FF25-1B30B77FD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4604144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Design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Goal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 err="1"/>
              <a:t>Fundational</a:t>
            </a:r>
            <a:r>
              <a:rPr lang="fr-FR" dirty="0"/>
              <a:t> </a:t>
            </a:r>
            <a:r>
              <a:rPr lang="fr-FR" dirty="0" err="1"/>
              <a:t>works</a:t>
            </a:r>
            <a:endParaRPr lang="fr-FR" dirty="0"/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Data </a:t>
            </a:r>
            <a:r>
              <a:rPr lang="fr-FR" dirty="0" err="1"/>
              <a:t>processing</a:t>
            </a:r>
            <a:endParaRPr lang="fr-FR" dirty="0"/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Architecture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Data augmentation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 err="1"/>
              <a:t>Losses</a:t>
            </a:r>
            <a:r>
              <a:rPr lang="fr-FR" dirty="0"/>
              <a:t> and </a:t>
            </a:r>
            <a:r>
              <a:rPr lang="fr-FR" dirty="0" err="1"/>
              <a:t>Metrics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Experiments</a:t>
            </a:r>
            <a:endParaRPr lang="fr-FR" dirty="0"/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Structural </a:t>
            </a:r>
            <a:r>
              <a:rPr lang="fr-FR" dirty="0" err="1"/>
              <a:t>Features</a:t>
            </a:r>
            <a:endParaRPr lang="fr-FR" dirty="0"/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Impact of Augmentation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 err="1"/>
              <a:t>Finding</a:t>
            </a:r>
            <a:r>
              <a:rPr lang="fr-FR" dirty="0"/>
              <a:t> the best Candidate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Impact of training size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LSTM Ablation </a:t>
            </a:r>
            <a:r>
              <a:rPr lang="fr-FR" dirty="0" err="1"/>
              <a:t>Study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902C34-3CDE-A25A-DD76-F51861158C69}"/>
              </a:ext>
            </a:extLst>
          </p:cNvPr>
          <p:cNvSpPr txBox="1"/>
          <p:nvPr/>
        </p:nvSpPr>
        <p:spPr>
          <a:xfrm>
            <a:off x="6339078" y="1690688"/>
            <a:ext cx="609447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dirty="0"/>
              <a:t>3.       </a:t>
            </a:r>
            <a:r>
              <a:rPr lang="fr-FR" sz="2600" dirty="0" err="1"/>
              <a:t>Results</a:t>
            </a:r>
            <a:endParaRPr lang="fr-FR" sz="2600" dirty="0"/>
          </a:p>
          <a:p>
            <a:pPr marL="971550" lvl="1" indent="-514350">
              <a:buFont typeface="+mj-lt"/>
              <a:buAutoNum type="arabicPeriod"/>
            </a:pPr>
            <a:r>
              <a:rPr lang="fr-FR" sz="2600" dirty="0" err="1"/>
              <a:t>Success</a:t>
            </a:r>
            <a:r>
              <a:rPr lang="fr-FR" sz="2600" dirty="0"/>
              <a:t> on </a:t>
            </a:r>
            <a:r>
              <a:rPr lang="fr-FR" sz="2600" dirty="0" err="1"/>
              <a:t>small</a:t>
            </a:r>
            <a:r>
              <a:rPr lang="fr-FR" sz="2600" dirty="0"/>
              <a:t> </a:t>
            </a:r>
            <a:r>
              <a:rPr lang="fr-FR" sz="2600" dirty="0" err="1"/>
              <a:t>signals</a:t>
            </a:r>
            <a:endParaRPr lang="fr-FR" sz="2600" dirty="0"/>
          </a:p>
          <a:p>
            <a:pPr marL="971550" lvl="1" indent="-514350">
              <a:buFont typeface="+mj-lt"/>
              <a:buAutoNum type="arabicPeriod"/>
            </a:pPr>
            <a:r>
              <a:rPr lang="fr-FR" sz="2600" dirty="0"/>
              <a:t>Failure to stop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 err="1"/>
              <a:t>Character-based</a:t>
            </a:r>
            <a:r>
              <a:rPr lang="fr-FR" sz="2600" dirty="0"/>
              <a:t> observation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/>
              <a:t>Large </a:t>
            </a:r>
            <a:r>
              <a:rPr lang="fr-FR" sz="2600" dirty="0" err="1"/>
              <a:t>signals</a:t>
            </a:r>
            <a:endParaRPr lang="fr-FR" sz="2600" dirty="0"/>
          </a:p>
          <a:p>
            <a:pPr marL="971550" lvl="1" indent="-514350">
              <a:buFont typeface="+mj-lt"/>
              <a:buAutoNum type="arabicPeriod"/>
            </a:pPr>
            <a:r>
              <a:rPr lang="fr-FR" sz="2600" dirty="0"/>
              <a:t>LLM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 err="1"/>
              <a:t>Demo</a:t>
            </a:r>
            <a:endParaRPr lang="fr-FR" sz="2600" dirty="0"/>
          </a:p>
          <a:p>
            <a:pPr marL="971550" lvl="1" indent="-514350">
              <a:buFont typeface="+mj-lt"/>
              <a:buAutoNum type="arabicPeriod"/>
            </a:pPr>
            <a:r>
              <a:rPr lang="fr-FR" sz="2600" dirty="0"/>
              <a:t>Future Works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/>
              <a:t>Return on objectives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600" dirty="0"/>
              <a:t>Conclusion</a:t>
            </a:r>
          </a:p>
          <a:p>
            <a:pPr marL="971550" lvl="1" indent="-514350">
              <a:buFont typeface="+mj-lt"/>
              <a:buAutoNum type="arabicPeriod"/>
            </a:pPr>
            <a:endParaRPr lang="fr-FR" sz="26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9A5818C-2E43-FFCB-8230-F650C1BFE50F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7" name="Image 6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4BDC21F9-6258-3CE8-ECEB-A9A8F6BE0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4EA755D-617F-C6B4-6983-BD88F57E7ACD}"/>
              </a:ext>
            </a:extLst>
          </p:cNvPr>
          <p:cNvSpPr txBox="1"/>
          <p:nvPr/>
        </p:nvSpPr>
        <p:spPr>
          <a:xfrm>
            <a:off x="11792319" y="6566897"/>
            <a:ext cx="454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5/39</a:t>
            </a:r>
            <a:endParaRPr lang="fr-CH" sz="105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1ABA6D-C996-E9C5-1D98-2996AA0563B8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</p:spTree>
    <p:extLst>
      <p:ext uri="{BB962C8B-B14F-4D97-AF65-F5344CB8AC3E}">
        <p14:creationId xmlns:p14="http://schemas.microsoft.com/office/powerpoint/2010/main" val="272231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55017B-5C36-B962-4E84-DBE3F9BFC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313" y="687388"/>
            <a:ext cx="6290687" cy="5483225"/>
          </a:xfrm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I - Design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30628EC9-3947-DDEF-5739-E8CB02928F3F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4" name="Image 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FE6EF496-320A-FC7C-44AA-C602CBB48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8160B5A-5A93-4EA5-FF65-AB33E7ACAEB8}"/>
              </a:ext>
            </a:extLst>
          </p:cNvPr>
          <p:cNvSpPr txBox="1"/>
          <p:nvPr/>
        </p:nvSpPr>
        <p:spPr>
          <a:xfrm>
            <a:off x="11792319" y="6566897"/>
            <a:ext cx="454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6/39</a:t>
            </a:r>
            <a:endParaRPr lang="fr-CH" sz="105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9923A9B-8DFB-CA3B-E544-D36126854965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87D5A8-5D1D-DDFE-AE0B-A19110C6A4C4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AAF8AF2-02A9-46BB-1022-3AED6F0711A4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9C9C4A8-9098-BB97-2DD4-4769C960760F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DBBE66E-3CED-2597-4C8B-CFA3D4323E3E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E6C97C-5599-D284-F9FE-81FBF6A95054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A18B1-9CA1-29F7-4C73-6CFCC0D0075F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3AD1B6-5466-C8CC-9D54-0145932F0D1F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F29915-8EF9-5692-F596-6C1C2BA49A5F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405D92-7F7D-813C-1D27-2A58833A35F0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7F1A45-BD06-6D6A-AD49-BEF5DCD165EC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5956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4EDBB-A942-9832-9188-FD349132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89" y="328623"/>
            <a:ext cx="1808747" cy="915035"/>
          </a:xfrm>
        </p:spPr>
        <p:txBody>
          <a:bodyPr>
            <a:normAutofit/>
          </a:bodyPr>
          <a:lstStyle/>
          <a:p>
            <a:r>
              <a:rPr lang="fr-FR" dirty="0"/>
              <a:t>Goal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A9B835-BF40-6138-A3C4-9D3F4D2F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189" y="1387494"/>
            <a:ext cx="10233800" cy="494019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Generate</a:t>
            </a:r>
            <a:r>
              <a:rPr lang="fr-FR" dirty="0"/>
              <a:t> </a:t>
            </a:r>
            <a:r>
              <a:rPr lang="fr-FR" b="1" dirty="0"/>
              <a:t>Online signal </a:t>
            </a:r>
            <a:r>
              <a:rPr lang="fr-FR" dirty="0" err="1"/>
              <a:t>from</a:t>
            </a:r>
            <a:r>
              <a:rPr lang="fr-FR" dirty="0"/>
              <a:t> Offline images</a:t>
            </a:r>
          </a:p>
          <a:p>
            <a:pPr marL="0" indent="0">
              <a:buNone/>
            </a:pPr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19F16D-1632-7AA9-8DC6-DB9AA5CA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" r="64561"/>
          <a:stretch/>
        </p:blipFill>
        <p:spPr>
          <a:xfrm>
            <a:off x="559870" y="2800267"/>
            <a:ext cx="2820203" cy="1590897"/>
          </a:xfrm>
          <a:prstGeom prst="rect">
            <a:avLst/>
          </a:prstGeom>
        </p:spPr>
      </p:pic>
      <p:pic>
        <p:nvPicPr>
          <p:cNvPr id="7" name="Graphique 6" descr="Robot contour">
            <a:extLst>
              <a:ext uri="{FF2B5EF4-FFF2-40B4-BE49-F238E27FC236}">
                <a16:creationId xmlns:a16="http://schemas.microsoft.com/office/drawing/2014/main" id="{157FF101-4F10-301E-9024-A6E47E65C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7928" y="3154191"/>
            <a:ext cx="914400" cy="914400"/>
          </a:xfrm>
          <a:prstGeom prst="rect">
            <a:avLst/>
          </a:prstGeom>
        </p:spPr>
      </p:pic>
      <p:sp>
        <p:nvSpPr>
          <p:cNvPr id="8" name="Parenthèses 7">
            <a:extLst>
              <a:ext uri="{FF2B5EF4-FFF2-40B4-BE49-F238E27FC236}">
                <a16:creationId xmlns:a16="http://schemas.microsoft.com/office/drawing/2014/main" id="{381EC7F8-3DAE-8BFC-FAE8-15A43B53E96B}"/>
              </a:ext>
            </a:extLst>
          </p:cNvPr>
          <p:cNvSpPr/>
          <p:nvPr/>
        </p:nvSpPr>
        <p:spPr>
          <a:xfrm>
            <a:off x="5804036" y="2939346"/>
            <a:ext cx="1010539" cy="134408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dirty="0"/>
              <a:t>(1,2)</a:t>
            </a:r>
          </a:p>
          <a:p>
            <a:pPr algn="ctr"/>
            <a:r>
              <a:rPr lang="fr-FR" dirty="0"/>
              <a:t>(1,3)</a:t>
            </a:r>
          </a:p>
          <a:p>
            <a:pPr algn="ctr"/>
            <a:r>
              <a:rPr lang="fr-FR" dirty="0"/>
              <a:t>(1,4)</a:t>
            </a:r>
          </a:p>
          <a:p>
            <a:pPr algn="ctr"/>
            <a:r>
              <a:rPr lang="fr-FR" dirty="0"/>
              <a:t>(2,4)</a:t>
            </a:r>
            <a:endParaRPr lang="fr-CH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ABB29E-44A9-92E3-FEBD-6B47DE4F1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" r="64561"/>
          <a:stretch/>
        </p:blipFill>
        <p:spPr>
          <a:xfrm>
            <a:off x="7977878" y="2567336"/>
            <a:ext cx="1040325" cy="58685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08048F-557F-275A-10ED-01CA91E3E363}"/>
              </a:ext>
            </a:extLst>
          </p:cNvPr>
          <p:cNvSpPr/>
          <p:nvPr/>
        </p:nvSpPr>
        <p:spPr>
          <a:xfrm>
            <a:off x="7977878" y="3832174"/>
            <a:ext cx="1040325" cy="66969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5782984-CF68-8037-D0DE-BAD37DC79712}"/>
              </a:ext>
            </a:extLst>
          </p:cNvPr>
          <p:cNvSpPr/>
          <p:nvPr/>
        </p:nvSpPr>
        <p:spPr>
          <a:xfrm>
            <a:off x="8126635" y="4002994"/>
            <a:ext cx="78677" cy="7384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C34EDF2-77D1-760E-AE19-010FA4D1B6DC}"/>
              </a:ext>
            </a:extLst>
          </p:cNvPr>
          <p:cNvSpPr/>
          <p:nvPr/>
        </p:nvSpPr>
        <p:spPr>
          <a:xfrm>
            <a:off x="8126635" y="4160156"/>
            <a:ext cx="78677" cy="7384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F17F77-A39D-81C5-776A-D4A259604FDD}"/>
              </a:ext>
            </a:extLst>
          </p:cNvPr>
          <p:cNvSpPr/>
          <p:nvPr/>
        </p:nvSpPr>
        <p:spPr>
          <a:xfrm>
            <a:off x="8126635" y="4317318"/>
            <a:ext cx="78677" cy="7384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7C70ED8-7E0D-B33B-F1A3-14AE5D47A779}"/>
              </a:ext>
            </a:extLst>
          </p:cNvPr>
          <p:cNvSpPr/>
          <p:nvPr/>
        </p:nvSpPr>
        <p:spPr>
          <a:xfrm>
            <a:off x="8314405" y="4317318"/>
            <a:ext cx="78677" cy="7384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14E5014-DA2E-473C-2A3F-890E6870AE48}"/>
              </a:ext>
            </a:extLst>
          </p:cNvPr>
          <p:cNvCxnSpPr>
            <a:cxnSpLocks/>
          </p:cNvCxnSpPr>
          <p:nvPr/>
        </p:nvCxnSpPr>
        <p:spPr>
          <a:xfrm>
            <a:off x="8165974" y="4024424"/>
            <a:ext cx="0" cy="3143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B567CE9-1B94-EA94-DEF5-20B35D72AF5E}"/>
              </a:ext>
            </a:extLst>
          </p:cNvPr>
          <p:cNvCxnSpPr>
            <a:cxnSpLocks/>
          </p:cNvCxnSpPr>
          <p:nvPr/>
        </p:nvCxnSpPr>
        <p:spPr>
          <a:xfrm flipH="1">
            <a:off x="8176739" y="4354241"/>
            <a:ext cx="187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77BA676-9FBC-D68A-3563-5E4A3FBCE68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380073" y="3595716"/>
            <a:ext cx="9861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4269BE1-160C-D590-893D-5D9086EB3F2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991100" y="3611391"/>
            <a:ext cx="8129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F6C1014F-D9FC-A3EF-074C-23B4310084B7}"/>
              </a:ext>
            </a:extLst>
          </p:cNvPr>
          <p:cNvCxnSpPr>
            <a:cxnSpLocks/>
          </p:cNvCxnSpPr>
          <p:nvPr/>
        </p:nvCxnSpPr>
        <p:spPr>
          <a:xfrm>
            <a:off x="6880860" y="3616603"/>
            <a:ext cx="1028700" cy="6668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864E97DE-B819-8EBC-A808-48C659BE2659}"/>
              </a:ext>
            </a:extLst>
          </p:cNvPr>
          <p:cNvCxnSpPr>
            <a:endCxn id="9" idx="0"/>
          </p:cNvCxnSpPr>
          <p:nvPr/>
        </p:nvCxnSpPr>
        <p:spPr>
          <a:xfrm flipV="1">
            <a:off x="1851660" y="2567336"/>
            <a:ext cx="6646381" cy="196009"/>
          </a:xfrm>
          <a:prstGeom prst="bentConnector4">
            <a:avLst>
              <a:gd name="adj1" fmla="val 113"/>
              <a:gd name="adj2" fmla="val 216627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01D34852-5BB6-F30D-D206-33E851512FBF}"/>
              </a:ext>
            </a:extLst>
          </p:cNvPr>
          <p:cNvSpPr txBox="1"/>
          <p:nvPr/>
        </p:nvSpPr>
        <p:spPr>
          <a:xfrm>
            <a:off x="7909560" y="3316619"/>
            <a:ext cx="116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Compare</a:t>
            </a:r>
            <a:endParaRPr lang="fr-CH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B592D712-E7E4-9392-FBA0-4CCAF1887510}"/>
              </a:ext>
            </a:extLst>
          </p:cNvPr>
          <p:cNvSpPr txBox="1"/>
          <p:nvPr/>
        </p:nvSpPr>
        <p:spPr>
          <a:xfrm>
            <a:off x="9437746" y="2413337"/>
            <a:ext cx="27343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Trajectories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Fixed</a:t>
            </a:r>
            <a:r>
              <a:rPr lang="fr-FR" dirty="0"/>
              <a:t>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	10ms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Comparisons</a:t>
            </a:r>
            <a:r>
              <a:rPr lang="fr-FR" dirty="0"/>
              <a:t> ?</a:t>
            </a:r>
            <a:endParaRPr lang="fr-CH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97165CB4-1058-9848-B0AB-E7054DBFF813}"/>
              </a:ext>
            </a:extLst>
          </p:cNvPr>
          <p:cNvSpPr/>
          <p:nvPr/>
        </p:nvSpPr>
        <p:spPr>
          <a:xfrm>
            <a:off x="738202" y="3663091"/>
            <a:ext cx="49069" cy="45719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FFAE63C-6511-705F-EF70-C77155EDA171}"/>
              </a:ext>
            </a:extLst>
          </p:cNvPr>
          <p:cNvSpPr txBox="1"/>
          <p:nvPr/>
        </p:nvSpPr>
        <p:spPr>
          <a:xfrm>
            <a:off x="4865269" y="4674281"/>
            <a:ext cx="2461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Vector</a:t>
            </a:r>
            <a:r>
              <a:rPr lang="fr-FR" b="1" dirty="0"/>
              <a:t> of </a:t>
            </a:r>
            <a:r>
              <a:rPr lang="fr-FR" b="1" dirty="0" err="1"/>
              <a:t>coordinates</a:t>
            </a:r>
            <a:endParaRPr lang="fr-FR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E35A8DB-51AD-3D58-75E6-F020066A1566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06921F5C-FCC8-885F-76A5-C5915BB5AB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09BC264-B46D-DD16-F2E3-B0D97086BA43}"/>
              </a:ext>
            </a:extLst>
          </p:cNvPr>
          <p:cNvSpPr txBox="1"/>
          <p:nvPr/>
        </p:nvSpPr>
        <p:spPr>
          <a:xfrm>
            <a:off x="11792319" y="6566897"/>
            <a:ext cx="454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7/39</a:t>
            </a:r>
            <a:endParaRPr lang="fr-CH" sz="105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EDF498C-7F67-0DEE-F86C-BB43458577F4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72743B-029C-DEFB-9A3A-F1BC118F2C08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48C43A4A-3E9D-11A7-7D41-1FF5D80DBF55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898BA2F-C3F2-60D7-B0CF-0726720159FF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58D29C92-46F2-D22D-E287-66C3AFF15949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400E6D-B132-80BA-CB74-117A20FB0C79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C471CF-A24A-65D5-8908-E638A38B3382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627B60-2057-0CB9-6069-0D4E9C5488DA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B4AA82-AE69-946D-D45C-A7F5EDA11507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4B16F8-1B4D-1B64-D993-6205BC59F37F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CE9DEC-E91E-0576-BFDD-0A148A2B9E71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9CA9F7D-0F8D-9832-2E39-8566A3F4D08C}"/>
              </a:ext>
            </a:extLst>
          </p:cNvPr>
          <p:cNvSpPr txBox="1"/>
          <p:nvPr/>
        </p:nvSpPr>
        <p:spPr>
          <a:xfrm>
            <a:off x="485075" y="4607156"/>
            <a:ext cx="2461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Image + Start point</a:t>
            </a:r>
          </a:p>
        </p:txBody>
      </p:sp>
    </p:spTree>
    <p:extLst>
      <p:ext uri="{BB962C8B-B14F-4D97-AF65-F5344CB8AC3E}">
        <p14:creationId xmlns:p14="http://schemas.microsoft.com/office/powerpoint/2010/main" val="92227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5FFD8-A12B-13B9-D509-F0CBC570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924" y="168999"/>
            <a:ext cx="9453675" cy="1156564"/>
          </a:xfrm>
        </p:spPr>
        <p:txBody>
          <a:bodyPr/>
          <a:lstStyle/>
          <a:p>
            <a:r>
              <a:rPr lang="fr-FR" dirty="0" err="1"/>
              <a:t>Fundationals</a:t>
            </a:r>
            <a:r>
              <a:rPr lang="fr-FR" dirty="0"/>
              <a:t> </a:t>
            </a:r>
            <a:r>
              <a:rPr lang="fr-FR" dirty="0" err="1"/>
              <a:t>works</a:t>
            </a:r>
            <a:endParaRPr lang="fr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D1561FB-A4B0-6B6A-407C-8B8275A1F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3472" y="1325563"/>
            <a:ext cx="3986846" cy="2171734"/>
          </a:xfr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B757AE3-29E9-F3E0-E208-4874C4C84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99" y="1325563"/>
            <a:ext cx="2773252" cy="387179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72607B1-3356-42D8-5B54-8E1519EAB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726" y="1325563"/>
            <a:ext cx="3142312" cy="335803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F8DEE51-D44C-9339-5E68-E988517DB8C3}"/>
              </a:ext>
            </a:extLst>
          </p:cNvPr>
          <p:cNvSpPr txBox="1"/>
          <p:nvPr/>
        </p:nvSpPr>
        <p:spPr>
          <a:xfrm>
            <a:off x="529807" y="5385129"/>
            <a:ext cx="37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Attention Is All  You Need</a:t>
            </a:r>
          </a:p>
          <a:p>
            <a:pPr algn="ctr"/>
            <a:r>
              <a:rPr lang="fr-FR" dirty="0"/>
              <a:t>[Self]-attention, Data </a:t>
            </a:r>
            <a:r>
              <a:rPr lang="fr-FR" dirty="0" err="1"/>
              <a:t>parallelization</a:t>
            </a:r>
            <a:endParaRPr lang="fr-CH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CD7D0D0-45AD-D02A-F8EB-50277B1BF487}"/>
              </a:ext>
            </a:extLst>
          </p:cNvPr>
          <p:cNvSpPr txBox="1"/>
          <p:nvPr/>
        </p:nvSpPr>
        <p:spPr>
          <a:xfrm>
            <a:off x="7733473" y="3885663"/>
            <a:ext cx="3986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Vision Transformers – </a:t>
            </a:r>
            <a:r>
              <a:rPr lang="fr-FR" b="1" dirty="0" err="1"/>
              <a:t>ViT</a:t>
            </a:r>
            <a:endParaRPr lang="fr-FR" b="1" dirty="0"/>
          </a:p>
          <a:p>
            <a:pPr algn="ctr"/>
            <a:r>
              <a:rPr lang="fr-FR" dirty="0"/>
              <a:t>Patches - </a:t>
            </a:r>
            <a:r>
              <a:rPr lang="fr-FR" dirty="0" err="1"/>
              <a:t>Embeddings</a:t>
            </a:r>
            <a:r>
              <a:rPr lang="fr-FR" dirty="0"/>
              <a:t>, </a:t>
            </a:r>
            <a:r>
              <a:rPr lang="fr-FR" dirty="0" err="1"/>
              <a:t>Tokens</a:t>
            </a:r>
            <a:endParaRPr lang="fr-CH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0523B2-9E2F-0BDA-4556-4791D7CEA416}"/>
              </a:ext>
            </a:extLst>
          </p:cNvPr>
          <p:cNvSpPr txBox="1"/>
          <p:nvPr/>
        </p:nvSpPr>
        <p:spPr>
          <a:xfrm>
            <a:off x="4307726" y="5125044"/>
            <a:ext cx="3142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Set, Sort !</a:t>
            </a:r>
          </a:p>
          <a:p>
            <a:pPr algn="ctr"/>
            <a:r>
              <a:rPr lang="fr-FR" dirty="0" err="1"/>
              <a:t>Strokes</a:t>
            </a:r>
            <a:r>
              <a:rPr lang="fr-FR" dirty="0"/>
              <a:t>, </a:t>
            </a:r>
            <a:r>
              <a:rPr lang="fr-FR" dirty="0" err="1"/>
              <a:t>Substrokes</a:t>
            </a:r>
            <a:endParaRPr lang="fr-CH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A87C803-F517-36C5-92EC-B9EC2F5C19D9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4" name="Image 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7B0B212C-3795-AE59-FE15-649C83BC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9042435-874F-ACF1-C52C-A82F7300CEA7}"/>
              </a:ext>
            </a:extLst>
          </p:cNvPr>
          <p:cNvSpPr txBox="1"/>
          <p:nvPr/>
        </p:nvSpPr>
        <p:spPr>
          <a:xfrm>
            <a:off x="11695177" y="6566897"/>
            <a:ext cx="5516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8/39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EA7B854-0A1E-96B4-4B7A-2B4D6E4C41F0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469E06-F2A2-8EDD-59DA-8D569FA30119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1A69429-84FA-41B6-1207-645E5DB1CBFD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76DA29D-871F-755B-0324-DAE22EA8586C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B9DF558-38F9-F96A-0A2A-7982BD36D452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D3A7EE-7741-B3A6-0C6F-C1A0B5A5A9B4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26C37E-7D63-8286-6A47-765D119E7235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7E20D7-B0DD-B14E-ACBC-993CA16420B5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4AFD88-814A-0CC6-B699-3CBEBF15C0EB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DE10D4-E7E3-AB3A-914F-91B6E12A8F4B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9591CD-5D77-2E38-2432-DC47EB406726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700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CEAEF8-11CD-A6A3-8631-2161BA02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07" y="349885"/>
            <a:ext cx="10515600" cy="1325563"/>
          </a:xfrm>
        </p:spPr>
        <p:txBody>
          <a:bodyPr/>
          <a:lstStyle/>
          <a:p>
            <a:r>
              <a:rPr lang="fr-FR" dirty="0"/>
              <a:t>Data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6410C1-014A-7A54-0B4E-D42594B33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583993"/>
            <a:ext cx="5048250" cy="887826"/>
          </a:xfrm>
        </p:spPr>
        <p:txBody>
          <a:bodyPr>
            <a:normAutofit fontScale="92500" lnSpcReduction="10000"/>
          </a:bodyPr>
          <a:lstStyle/>
          <a:p>
            <a:r>
              <a:rPr lang="fr-FR" b="1" dirty="0"/>
              <a:t>BRUSH, UNIPEN</a:t>
            </a:r>
            <a:r>
              <a:rPr lang="fr-FR" dirty="0"/>
              <a:t>, CROHME, IAM </a:t>
            </a:r>
          </a:p>
          <a:p>
            <a:pPr marL="0" indent="0">
              <a:buNone/>
            </a:pPr>
            <a:r>
              <a:rPr lang="fr-CH" dirty="0" err="1"/>
              <a:t>Coordinate</a:t>
            </a:r>
            <a:r>
              <a:rPr lang="fr-CH" dirty="0"/>
              <a:t> </a:t>
            </a:r>
            <a:r>
              <a:rPr lang="fr-CH" dirty="0" err="1"/>
              <a:t>vectors</a:t>
            </a:r>
            <a:r>
              <a:rPr lang="fr-CH" dirty="0"/>
              <a:t>, Sampling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3F7555-190F-D7E7-D190-EDAA5D251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09" y="3005077"/>
            <a:ext cx="4525006" cy="8478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4065D83-D8AF-F1D0-D43B-F1F9A862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" r="-1"/>
          <a:stretch/>
        </p:blipFill>
        <p:spPr>
          <a:xfrm>
            <a:off x="7121783" y="2933630"/>
            <a:ext cx="3686433" cy="99073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68B2339-5074-A40A-F521-334C24B0A3C6}"/>
              </a:ext>
            </a:extLst>
          </p:cNvPr>
          <p:cNvSpPr txBox="1"/>
          <p:nvPr/>
        </p:nvSpPr>
        <p:spPr>
          <a:xfrm>
            <a:off x="1023306" y="2490847"/>
            <a:ext cx="452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BRUSH</a:t>
            </a:r>
            <a:endParaRPr lang="fr-CH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C652384-547A-C5B9-3033-A40C2E58E4D1}"/>
              </a:ext>
            </a:extLst>
          </p:cNvPr>
          <p:cNvSpPr txBox="1"/>
          <p:nvPr/>
        </p:nvSpPr>
        <p:spPr>
          <a:xfrm>
            <a:off x="6858000" y="2404040"/>
            <a:ext cx="421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UNIPEN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B16CE25-7673-5D4B-9022-0D7D5C7033D1}"/>
              </a:ext>
            </a:extLst>
          </p:cNvPr>
          <p:cNvSpPr txBox="1"/>
          <p:nvPr/>
        </p:nvSpPr>
        <p:spPr>
          <a:xfrm>
            <a:off x="6857999" y="4184931"/>
            <a:ext cx="4495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~ 314’000 </a:t>
            </a:r>
            <a:r>
              <a:rPr lang="fr-FR" dirty="0" err="1"/>
              <a:t>signals</a:t>
            </a:r>
            <a:r>
              <a:rPr lang="fr-FR" dirty="0"/>
              <a:t> images, </a:t>
            </a:r>
            <a:r>
              <a:rPr lang="fr-FR" b="1" dirty="0"/>
              <a:t>~70M </a:t>
            </a:r>
            <a:r>
              <a:rPr lang="fr-FR" b="1" dirty="0" err="1"/>
              <a:t>Datapoints</a:t>
            </a:r>
            <a:endParaRPr lang="fr-FR" b="1" dirty="0"/>
          </a:p>
          <a:p>
            <a:r>
              <a:rPr lang="fr-FR" dirty="0"/>
              <a:t>~2,5M </a:t>
            </a:r>
            <a:r>
              <a:rPr lang="fr-FR" dirty="0" err="1"/>
              <a:t>signals</a:t>
            </a:r>
            <a:r>
              <a:rPr lang="fr-FR" dirty="0"/>
              <a:t> </a:t>
            </a:r>
            <a:r>
              <a:rPr lang="fr-FR" dirty="0" err="1"/>
              <a:t>limited</a:t>
            </a:r>
            <a:r>
              <a:rPr lang="fr-FR" dirty="0"/>
              <a:t> </a:t>
            </a:r>
            <a:r>
              <a:rPr lang="fr-FR" dirty="0" err="1"/>
              <a:t>strokes</a:t>
            </a:r>
            <a:endParaRPr lang="fr-FR" dirty="0"/>
          </a:p>
          <a:p>
            <a:r>
              <a:rPr lang="fr-FR" dirty="0" err="1"/>
              <a:t>Average</a:t>
            </a:r>
            <a:r>
              <a:rPr lang="fr-FR" dirty="0"/>
              <a:t> signal </a:t>
            </a:r>
            <a:r>
              <a:rPr lang="fr-FR" dirty="0" err="1"/>
              <a:t>length</a:t>
            </a:r>
            <a:r>
              <a:rPr lang="fr-FR" dirty="0"/>
              <a:t>: 49 points</a:t>
            </a:r>
          </a:p>
          <a:p>
            <a:r>
              <a:rPr lang="fr-FR" dirty="0" err="1"/>
              <a:t>Average</a:t>
            </a:r>
            <a:r>
              <a:rPr lang="fr-FR" dirty="0"/>
              <a:t> image size: 49x44</a:t>
            </a:r>
          </a:p>
          <a:p>
            <a:r>
              <a:rPr lang="fr-FR" dirty="0"/>
              <a:t>Non-</a:t>
            </a:r>
            <a:r>
              <a:rPr lang="fr-FR" dirty="0" err="1"/>
              <a:t>Homogeneous</a:t>
            </a:r>
            <a:endParaRPr lang="fr-CH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8101A3A-7FBE-EA26-0828-98938D550048}"/>
              </a:ext>
            </a:extLst>
          </p:cNvPr>
          <p:cNvSpPr txBox="1"/>
          <p:nvPr/>
        </p:nvSpPr>
        <p:spPr>
          <a:xfrm>
            <a:off x="1023306" y="4184931"/>
            <a:ext cx="45958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~ 29’000 </a:t>
            </a:r>
            <a:r>
              <a:rPr lang="fr-FR" dirty="0" err="1"/>
              <a:t>signals</a:t>
            </a:r>
            <a:r>
              <a:rPr lang="fr-FR" dirty="0"/>
              <a:t> images, </a:t>
            </a:r>
            <a:r>
              <a:rPr lang="fr-FR" b="1" dirty="0"/>
              <a:t>~7M </a:t>
            </a:r>
            <a:r>
              <a:rPr lang="fr-FR" b="1" dirty="0" err="1"/>
              <a:t>Datapoints</a:t>
            </a:r>
            <a:endParaRPr lang="fr-FR" b="1" dirty="0"/>
          </a:p>
          <a:p>
            <a:r>
              <a:rPr lang="fr-FR" dirty="0"/>
              <a:t>~500’000 </a:t>
            </a:r>
            <a:r>
              <a:rPr lang="fr-FR" dirty="0" err="1"/>
              <a:t>signals</a:t>
            </a:r>
            <a:r>
              <a:rPr lang="fr-FR" dirty="0"/>
              <a:t> </a:t>
            </a:r>
            <a:r>
              <a:rPr lang="fr-FR" dirty="0" err="1"/>
              <a:t>limited</a:t>
            </a:r>
            <a:r>
              <a:rPr lang="fr-FR" dirty="0"/>
              <a:t> </a:t>
            </a:r>
            <a:r>
              <a:rPr lang="fr-FR" dirty="0" err="1"/>
              <a:t>strokes</a:t>
            </a:r>
            <a:endParaRPr lang="fr-FR" dirty="0"/>
          </a:p>
          <a:p>
            <a:r>
              <a:rPr lang="fr-FR" dirty="0" err="1"/>
              <a:t>Average</a:t>
            </a:r>
            <a:r>
              <a:rPr lang="fr-FR" dirty="0"/>
              <a:t> signal </a:t>
            </a:r>
            <a:r>
              <a:rPr lang="fr-FR" dirty="0" err="1"/>
              <a:t>length</a:t>
            </a:r>
            <a:r>
              <a:rPr lang="fr-FR" dirty="0"/>
              <a:t>: 14 points</a:t>
            </a:r>
          </a:p>
          <a:p>
            <a:r>
              <a:rPr lang="fr-FR" dirty="0" err="1"/>
              <a:t>Average</a:t>
            </a:r>
            <a:r>
              <a:rPr lang="fr-FR" dirty="0"/>
              <a:t> image size: 28x22</a:t>
            </a:r>
          </a:p>
          <a:p>
            <a:r>
              <a:rPr lang="fr-FR" dirty="0" err="1"/>
              <a:t>Homogeneous</a:t>
            </a:r>
            <a:endParaRPr lang="fr-CH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4EED23-881E-F9BA-6799-BC69600FA48F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B3A20790-8542-5734-154F-81F285FF4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62261F4-C639-AD90-E62C-89856C1BEA88}"/>
              </a:ext>
            </a:extLst>
          </p:cNvPr>
          <p:cNvSpPr txBox="1"/>
          <p:nvPr/>
        </p:nvSpPr>
        <p:spPr>
          <a:xfrm>
            <a:off x="11695177" y="6566897"/>
            <a:ext cx="5516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9/39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F972B65-9BF6-0613-A654-4880724003DB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C1BE3B-415C-5529-E22B-FFD55ED3A576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60CF441-FCDA-53E2-6A1D-68E633633855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26F7F72-7EE4-83AF-8D01-EC93ED4DA51B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AD35528-36AF-7E09-878E-CBD7369A6440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35F4EC-7B69-CE80-B84A-8F34D09985DB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93CC4B-1F56-FCF0-C0CC-18F9D3067E18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998AD6-B756-D34E-DF5A-BF454AC53843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75B93F-AB60-B51D-E5BA-5789A4E3D468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0B6451-1319-E8CB-DAE6-2FBF0C76D361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3AD4F2-FBC1-735C-609B-97A7D3F39CD3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3275D71-8F49-B7E0-26AB-39307FF3B593}"/>
              </a:ext>
            </a:extLst>
          </p:cNvPr>
          <p:cNvSpPr txBox="1"/>
          <p:nvPr/>
        </p:nvSpPr>
        <p:spPr>
          <a:xfrm>
            <a:off x="1058709" y="1933575"/>
            <a:ext cx="341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Scale</a:t>
            </a:r>
            <a:r>
              <a:rPr lang="fr-FR" dirty="0"/>
              <a:t>: </a:t>
            </a:r>
            <a:r>
              <a:rPr lang="fr-FR" dirty="0" err="1"/>
              <a:t>ViT</a:t>
            </a:r>
            <a:r>
              <a:rPr lang="fr-FR" dirty="0"/>
              <a:t> = 300M Images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104607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079BE1-ED93-4445-AD4A-0D671097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6C79BF-A4E0-4CC8-952B-C736485C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E2479B0-78C1-34BA-3F52-F72E569B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anchor="ctr">
            <a:normAutofit/>
          </a:bodyPr>
          <a:lstStyle/>
          <a:p>
            <a:pPr algn="r"/>
            <a:r>
              <a:rPr lang="fr-FR" sz="3200" dirty="0">
                <a:solidFill>
                  <a:schemeClr val="tx1"/>
                </a:solidFill>
              </a:rPr>
              <a:t>Data </a:t>
            </a:r>
            <a:r>
              <a:rPr lang="fr-FR" sz="3200" dirty="0" err="1">
                <a:solidFill>
                  <a:schemeClr val="tx1"/>
                </a:solidFill>
              </a:rPr>
              <a:t>Processing</a:t>
            </a:r>
            <a:endParaRPr lang="fr-CH" sz="3200" dirty="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BE6080-B11E-5BF0-6FA5-502AC0223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1352166"/>
            <a:ext cx="10905066" cy="218101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753AE0-AAA9-CE4A-DF6D-66A52A9E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5238749"/>
            <a:ext cx="2537079" cy="981079"/>
          </a:xfrm>
        </p:spPr>
        <p:txBody>
          <a:bodyPr anchor="ctr">
            <a:normAutofit/>
          </a:bodyPr>
          <a:lstStyle/>
          <a:p>
            <a:r>
              <a:rPr lang="fr-FR" sz="14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Constraints</a:t>
            </a:r>
            <a:endParaRPr lang="fr-FR" sz="1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pPr lvl="1"/>
            <a:r>
              <a:rPr lang="fr-FR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Limited size: 96x96</a:t>
            </a:r>
          </a:p>
          <a:p>
            <a:pPr lvl="1"/>
            <a:r>
              <a:rPr lang="fr-FR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Single </a:t>
            </a:r>
            <a:r>
              <a:rPr lang="fr-FR" sz="14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strokes</a:t>
            </a:r>
            <a:endParaRPr lang="fr-FR" sz="1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73E652E-FF67-88B0-6561-22B008FE5EC1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3E7056F0-0550-8C9C-E002-0EECB32F85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C7DAB1D-D426-5A31-73F0-7B823C07D2DB}"/>
              </a:ext>
            </a:extLst>
          </p:cNvPr>
          <p:cNvSpPr txBox="1"/>
          <p:nvPr/>
        </p:nvSpPr>
        <p:spPr>
          <a:xfrm>
            <a:off x="11732949" y="6566897"/>
            <a:ext cx="5139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10/39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64AEAED-66A8-ED6B-3D8F-1936DFA98C46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A78108-EEED-F3B5-8B70-76F70A9BC84F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4E9AD58-62A6-EB1F-36D4-332F272947ED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E791A90-EB53-BEFC-DA0F-61081B59A830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B2F7667-E6F0-4410-F42E-1CF3226400E5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E412B4-B58D-0731-6515-2F824ECDB8B2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5D98B4-B350-687B-7BC8-77BD07BB63AE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0922A0-AE2D-D556-267A-95C2DDC137D3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5662DA-5230-B049-72DC-0D4F1AC32FB9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487700-5C66-045D-878D-A765E77156C7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EC7049-B2B7-EF5F-0E6D-6982A9FA8D15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E2C77E2-CA80-B290-06D6-673B2E7195D1}"/>
              </a:ext>
            </a:extLst>
          </p:cNvPr>
          <p:cNvSpPr txBox="1"/>
          <p:nvPr/>
        </p:nvSpPr>
        <p:spPr>
          <a:xfrm>
            <a:off x="7191375" y="5332556"/>
            <a:ext cx="22193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Training</a:t>
            </a:r>
          </a:p>
          <a:p>
            <a:pPr lvl="1"/>
            <a:r>
              <a:rPr lang="fr-FR" sz="14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Teacher forcing</a:t>
            </a:r>
          </a:p>
          <a:p>
            <a:pPr lvl="1"/>
            <a:r>
              <a:rPr lang="fr-FR" sz="14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parallelization</a:t>
            </a:r>
            <a:endParaRPr lang="fr-FR" sz="14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651922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079BE1-ED93-4445-AD4A-0D671097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6C79BF-A4E0-4CC8-952B-C736485C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6744A3-5FC0-D4AB-9059-E0C3444AD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anchor="ctr">
            <a:normAutofit/>
          </a:bodyPr>
          <a:lstStyle/>
          <a:p>
            <a:pPr algn="r"/>
            <a:r>
              <a:rPr lang="fr-FR" sz="3200">
                <a:solidFill>
                  <a:schemeClr val="tx1"/>
                </a:solidFill>
              </a:rPr>
              <a:t>Data Processing</a:t>
            </a:r>
            <a:endParaRPr lang="fr-CH" sz="320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0AC6DF-C3BE-FD43-315A-7AAE95EDB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502110"/>
            <a:ext cx="10905066" cy="1881124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258BA9-4118-CA1A-F4F1-072AE4892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4824689"/>
            <a:ext cx="6894237" cy="14255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Strokes</a:t>
            </a:r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</a:t>
            </a:r>
            <a:r>
              <a:rPr lang="fr-FR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separation</a:t>
            </a:r>
            <a:endParaRPr lang="fr-CH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BDDEFD-9754-E475-465E-78B416FDD334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20B530EE-3CD7-2251-88BA-A237B8792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D8DF850-6D88-4227-0F90-9061113249C9}"/>
              </a:ext>
            </a:extLst>
          </p:cNvPr>
          <p:cNvSpPr txBox="1"/>
          <p:nvPr/>
        </p:nvSpPr>
        <p:spPr>
          <a:xfrm>
            <a:off x="11722609" y="6566897"/>
            <a:ext cx="52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11/39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D1C864-8ED8-A69C-3F0E-6DDF553832FB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5E69AA-3AFD-A5AF-F98B-23B1AFBE2307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DEEAC16-8B91-25C4-FCF7-9A6554D5BAFF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13FC3A9-B930-181B-154D-3433037C7FFA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09734EBE-F898-79C1-9451-99E28B9256C0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4F2D90-D13D-6718-2254-5CA0DCD6AD81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7726A4-95F6-151F-52DB-7DAB4845E72C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C50A17-AF3E-7EB9-3A2A-A974833D989A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D019B3-C590-A176-E7A3-EA57153616BD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CFFC45-66D9-5E5F-423A-518C2FDACC38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015048-6227-D347-F48A-B5CB92D78195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11435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43CD4-B17B-59FC-2C0B-579529CA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079BE1-ED93-4445-AD4A-0D671097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F6C79BF-A4E0-4CC8-952B-C736485C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78E682-670A-9E31-D649-38314F8DE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anchor="ctr">
            <a:normAutofit/>
          </a:bodyPr>
          <a:lstStyle/>
          <a:p>
            <a:pPr algn="r"/>
            <a:r>
              <a:rPr lang="fr-FR" sz="3200">
                <a:solidFill>
                  <a:schemeClr val="tx1"/>
                </a:solidFill>
              </a:rPr>
              <a:t>Data Processing</a:t>
            </a:r>
            <a:endParaRPr lang="fr-CH" sz="3200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C2BEE87-0A2E-AA91-D68E-3B204CC7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241" y="643467"/>
            <a:ext cx="7269518" cy="359841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C903F7-ED6C-8D61-BC59-92ABBAD3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4824689"/>
            <a:ext cx="6894237" cy="14255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Alignement</a:t>
            </a:r>
            <a:endParaRPr lang="fr-CH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84A803-1942-55A5-5FB5-CD4F186FCC42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E2708414-2987-C1F4-40AC-D9EFEB1C9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C863F63-C29D-350F-9C58-05F4F60DEA55}"/>
              </a:ext>
            </a:extLst>
          </p:cNvPr>
          <p:cNvSpPr txBox="1"/>
          <p:nvPr/>
        </p:nvSpPr>
        <p:spPr>
          <a:xfrm>
            <a:off x="11713465" y="6566897"/>
            <a:ext cx="5334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12/39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C9F3CD-FC61-E850-ED28-92D8885302BB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77E79F-D17A-AE8D-FE7C-56841F9B4B41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A6AA461-5C1F-B9C9-758F-EBDDB9D8EECB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84E24A4-39D2-818B-A2AF-A8A799195A65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DF9F725-51E2-D1AA-79C5-47FE6C34983E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1A255A-F08D-692D-A739-B7F74DA0B478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A41855-AE17-9366-3A5B-2D488D5EEE9E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875670-B1A4-E567-1EA2-D189857D6014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22DEE2-559B-92AE-3E65-8193F764D133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51C9D9-E219-2B0B-38AC-AED4E8AE138C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42C168-96D7-8BAA-B831-FE446FD170C3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40414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A5179-C146-0885-EA98-6161312F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079BE1-ED93-4445-AD4A-0D6710970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6C79BF-A4E0-4CC8-952B-C736485C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668B69-CC9F-8B39-2B29-3789562C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anchor="ctr">
            <a:normAutofit/>
          </a:bodyPr>
          <a:lstStyle/>
          <a:p>
            <a:pPr algn="r"/>
            <a:r>
              <a:rPr lang="fr-FR" sz="3200">
                <a:solidFill>
                  <a:schemeClr val="tx1"/>
                </a:solidFill>
              </a:rPr>
              <a:t>Data Processing</a:t>
            </a:r>
            <a:endParaRPr lang="fr-CH" sz="320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9C0150-6831-AB4D-9A29-3F6B85048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321" y="643467"/>
            <a:ext cx="7381357" cy="359841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8CDB37-CD16-2667-AD7A-4778DCC3B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4824689"/>
            <a:ext cx="6894237" cy="14255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6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Outliers</a:t>
            </a:r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Removal</a:t>
            </a:r>
            <a:endParaRPr lang="fr-CH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5DC3E67-4E9F-8948-949A-5F23AD86A386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C6D10155-9633-2CA2-FB57-F71805B13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3337310-17B6-91B6-926F-3132020EA13F}"/>
              </a:ext>
            </a:extLst>
          </p:cNvPr>
          <p:cNvSpPr txBox="1"/>
          <p:nvPr/>
        </p:nvSpPr>
        <p:spPr>
          <a:xfrm>
            <a:off x="11704321" y="6566897"/>
            <a:ext cx="5425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13/39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48A49EF-6F74-A25F-78CA-39FBB12044D7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9D6EDF-6DEE-B14E-32D1-F11C671C3D7E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6BC0B8E-94FD-FCD0-C354-E802AF11ED60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CDF4CD4-D46B-447A-74B5-6ADF0A887180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D1A2E68-F417-1244-C325-ED9731251975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87C9A9-9868-1718-8A5E-8BFCE3FDC376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809D79-1F5F-0886-F10E-FC65BEC263B6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BF0A37-8888-D13F-D51A-8F9C1D4A8101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C60374-45F8-B689-9B4B-20163B95958D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A5C250-3923-ABCD-4308-FD098A47B235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F4C5A9-8568-B789-F560-95E302522439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4412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80D74-C4EF-E3FF-84AA-F8FB4D27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052D9E-B1D6-89FD-5453-E4ACE60FA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63979EF-6FBA-CDD9-5FA9-79063665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7"/>
            <a:ext cx="12192000" cy="2285999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B31E459-6E38-D4BC-3845-9D23E98B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4824690"/>
            <a:ext cx="3724138" cy="1395140"/>
          </a:xfrm>
        </p:spPr>
        <p:txBody>
          <a:bodyPr anchor="ctr">
            <a:normAutofit/>
          </a:bodyPr>
          <a:lstStyle/>
          <a:p>
            <a:pPr algn="r"/>
            <a:r>
              <a:rPr lang="fr-FR" sz="3200">
                <a:solidFill>
                  <a:schemeClr val="tx1"/>
                </a:solidFill>
              </a:rPr>
              <a:t>Data Processing</a:t>
            </a:r>
            <a:endParaRPr lang="fr-CH" sz="3200">
              <a:solidFill>
                <a:schemeClr val="tx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FFBFC6-5F2E-91DD-C187-B3D34268F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4824689"/>
            <a:ext cx="6894237" cy="14255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Alignement</a:t>
            </a:r>
            <a:endParaRPr lang="fr-CH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5CE75D-7096-400A-36F6-613EB50C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033" y="396828"/>
            <a:ext cx="8840434" cy="382005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395C357-00DA-4EE7-85E4-67825DEA5FD0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AC383895-5A5A-19FA-05ED-3D491765B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055C257-A04C-8A00-938F-487B3A55936B}"/>
              </a:ext>
            </a:extLst>
          </p:cNvPr>
          <p:cNvSpPr txBox="1"/>
          <p:nvPr/>
        </p:nvSpPr>
        <p:spPr>
          <a:xfrm>
            <a:off x="11722607" y="6566897"/>
            <a:ext cx="5242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14/39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B3A1415-227E-48DF-20B0-5EA2A4E57676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5EC97-AAD5-4AD3-B598-32937A68D666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2F52357-8119-3EF5-1C8C-05C7FCBF3289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A14AF17-37D0-2BDB-A615-142BD2C165CE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07DE1A0-E9AA-3042-8524-EA7E14EA7518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57FC9C-30FB-4194-AD45-F2092F01BBDE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BBF4F6-9117-F8EC-648E-CC3A6630FABA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E63A89-0F80-62F3-2BBE-ADBA89C21151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034F97-DFB0-5511-57B3-DF15D1259584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2474CE-83DE-0045-1C90-E8ECB3F11798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81E2EE-6405-184D-2F82-CDB279BAE6CD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06368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30C0B-1FD8-451D-A2C6-991C3C9F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8116488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1"/>
            <a:ext cx="4062127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DC9D19-CFBD-FB1B-3C68-60E7BD23A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643468"/>
            <a:ext cx="2944152" cy="1622744"/>
          </a:xfrm>
        </p:spPr>
        <p:txBody>
          <a:bodyPr anchor="b">
            <a:normAutofit/>
          </a:bodyPr>
          <a:lstStyle/>
          <a:p>
            <a:r>
              <a:rPr lang="fr-FR" sz="3600">
                <a:solidFill>
                  <a:schemeClr val="tx1"/>
                </a:solidFill>
              </a:rPr>
              <a:t>Data Processing</a:t>
            </a:r>
            <a:endParaRPr lang="fr-CH" sz="360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417ABA-0D60-8C01-4007-041EBE87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906" y="643467"/>
            <a:ext cx="4902535" cy="5571063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A48949-91B3-F86A-7CE6-2CBAF8797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599" y="2402733"/>
            <a:ext cx="2944151" cy="3774230"/>
          </a:xfrm>
        </p:spPr>
        <p:txBody>
          <a:bodyPr>
            <a:normAutofit/>
          </a:bodyPr>
          <a:lstStyle/>
          <a:p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Teacher forcing</a:t>
            </a:r>
          </a:p>
          <a:p>
            <a:r>
              <a:rPr lang="fr-FR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Batches</a:t>
            </a:r>
            <a:endParaRPr lang="fr-FR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Signal -&gt;  </a:t>
            </a:r>
            <a:r>
              <a:rPr lang="fr-FR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subsignals</a:t>
            </a:r>
            <a:endParaRPr lang="fr-CH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7E0678F-17C3-C025-7F81-AA292E498CDB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479B45D0-3DA5-F239-7592-731C80503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7C66D2C-A204-6B05-271E-9E9CE5AFA170}"/>
              </a:ext>
            </a:extLst>
          </p:cNvPr>
          <p:cNvSpPr txBox="1"/>
          <p:nvPr/>
        </p:nvSpPr>
        <p:spPr>
          <a:xfrm>
            <a:off x="11750041" y="6566897"/>
            <a:ext cx="4968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15/39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7F211A5-F705-2642-3071-791E103765F4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D3EC9B-0F7D-AF51-E1CC-134A4380666F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3E1AE0C-D70B-F5D4-545C-3C6A47563515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33128F0-3EDF-010A-0BC6-413C33678229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06B0718-2053-D2EF-89E9-8778AE83AFCE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358A5A-08FB-4583-2313-EF8EE77FBBD9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CB9374-C985-AD32-F956-F9AD1C1E9E1C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431A7B-9E59-CB7F-D6D2-00E481725A8C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997DF-020A-547A-0CFB-F6B73B004125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E6C7FD-A35A-9FD3-2288-3B7329F93D2A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FC361-B368-CDE2-5E6D-599B3FC23DE3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25975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0A7FE5-38B6-D38D-E3AB-3F143192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5329FB-DD02-8C91-4F8D-C023F451D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4623575" cy="4351338"/>
          </a:xfrm>
        </p:spPr>
        <p:txBody>
          <a:bodyPr/>
          <a:lstStyle/>
          <a:p>
            <a:r>
              <a:rPr lang="fr-FR" dirty="0" err="1"/>
              <a:t>ViT</a:t>
            </a:r>
            <a:r>
              <a:rPr lang="fr-FR" dirty="0"/>
              <a:t> Encode</a:t>
            </a:r>
            <a:r>
              <a:rPr lang="fr-CH" dirty="0"/>
              <a:t>r</a:t>
            </a:r>
          </a:p>
          <a:p>
            <a:r>
              <a:rPr lang="fr-CH" dirty="0"/>
              <a:t>Mixed data</a:t>
            </a:r>
          </a:p>
          <a:p>
            <a:pPr lvl="1"/>
            <a:r>
              <a:rPr lang="fr-CH" dirty="0"/>
              <a:t>Images as input</a:t>
            </a:r>
          </a:p>
          <a:p>
            <a:pPr lvl="1"/>
            <a:r>
              <a:rPr lang="fr-CH" dirty="0" err="1"/>
              <a:t>Coordinates</a:t>
            </a:r>
            <a:r>
              <a:rPr lang="fr-CH" dirty="0"/>
              <a:t> on </a:t>
            </a:r>
            <a:r>
              <a:rPr lang="fr-CH" dirty="0" err="1"/>
              <a:t>target</a:t>
            </a:r>
            <a:r>
              <a:rPr lang="fr-CH" dirty="0"/>
              <a:t> </a:t>
            </a:r>
            <a:r>
              <a:rPr lang="fr-CH" dirty="0" err="1"/>
              <a:t>sequence</a:t>
            </a:r>
            <a:endParaRPr lang="fr-CH" dirty="0"/>
          </a:p>
          <a:p>
            <a:pPr lvl="1"/>
            <a:endParaRPr lang="fr-CH" dirty="0"/>
          </a:p>
          <a:p>
            <a:r>
              <a:rPr lang="fr-CH" dirty="0"/>
              <a:t>Red: inputs, outputs</a:t>
            </a:r>
          </a:p>
          <a:p>
            <a:r>
              <a:rPr lang="fr-CH" dirty="0"/>
              <a:t>Blue: Structural propositions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121F30A-7837-F915-2188-C1D072E9F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544" y="393701"/>
            <a:ext cx="5087640" cy="609917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DA91707-642E-E6A2-2420-312847E3BC21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2BDF47BB-0622-FFB9-A9BA-1EFA47363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302DB33-D1C5-F96B-E4AA-F04AE3EBC326}"/>
              </a:ext>
            </a:extLst>
          </p:cNvPr>
          <p:cNvSpPr txBox="1"/>
          <p:nvPr/>
        </p:nvSpPr>
        <p:spPr>
          <a:xfrm>
            <a:off x="11713465" y="6566897"/>
            <a:ext cx="5334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16/39</a:t>
            </a:r>
            <a:endParaRPr lang="fr-CH" sz="105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2A7EA03-996E-DA77-3EDC-582CC14BA2AB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7C10D6-80AF-32C8-185C-56E25E73EE6C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3C012FDA-6BCF-ED27-BCD9-631EF07683A3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063740F8-275F-AF30-A50B-60C17B6E078E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7F93702-C715-04AD-F50B-88A407AFEE3F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D464FE-1CE9-5AE3-F126-640D3DFEAD4F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73DF71-211B-5B0F-E06A-FE4877978D9D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1219D8-911D-C794-8EE7-574D020BAE0D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8D1522D-CDC9-99BD-DE0A-44062D452E81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98D1A7-470F-8A68-0AC3-76C449131603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960692E-C2F1-89CD-1890-9DC0B9D5892D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2052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07B9F7-7AB6-495E-88B9-46A078892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98395B-7D67-89E7-484F-31935B79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600" y="4824198"/>
            <a:ext cx="5871775" cy="104357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r"/>
            <a:r>
              <a:rPr lang="en-US" sz="6000" spc="-300" dirty="0">
                <a:gradFill flip="none" rotWithShape="1">
                  <a:gsLst>
                    <a:gs pos="32000">
                      <a:srgbClr val="E3E3E3"/>
                    </a:gs>
                    <a:gs pos="0">
                      <a:srgbClr val="969696"/>
                    </a:gs>
                    <a:gs pos="100000">
                      <a:srgbClr val="FFFFFF"/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Data Augmentation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B09ECDD1-C517-4EF7-8A74-E2730AE3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7070" y="645981"/>
            <a:ext cx="5871775" cy="3048394"/>
          </a:xfrm>
          <a:prstGeom prst="roundRect">
            <a:avLst>
              <a:gd name="adj" fmla="val 2028"/>
            </a:avLst>
          </a:prstGeom>
          <a:solidFill>
            <a:schemeClr val="bg1"/>
          </a:solidFill>
          <a:ln>
            <a:noFill/>
          </a:ln>
          <a:effectLst>
            <a:innerShdw blurRad="127000" dist="12700">
              <a:prstClr val="black"/>
            </a:innerShdw>
            <a:reflection blurRad="6350" stA="52000" endA="300" endPos="2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F83912F-AACC-141B-EBA0-B42A9F511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97110" y="1232904"/>
            <a:ext cx="5231695" cy="187454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0DA4389-97CC-D21B-6B14-7ECD131E4BA8}"/>
              </a:ext>
            </a:extLst>
          </p:cNvPr>
          <p:cNvSpPr txBox="1"/>
          <p:nvPr/>
        </p:nvSpPr>
        <p:spPr>
          <a:xfrm>
            <a:off x="783625" y="3868656"/>
            <a:ext cx="3809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Early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problems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during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inference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Discretization</a:t>
            </a:r>
            <a:r>
              <a:rPr lang="fr-FR" dirty="0">
                <a:solidFill>
                  <a:schemeClr val="bg1"/>
                </a:solidFill>
              </a:rPr>
              <a:t> of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Gaussian</a:t>
            </a:r>
            <a:r>
              <a:rPr lang="fr-FR" dirty="0">
                <a:solidFill>
                  <a:schemeClr val="bg1"/>
                </a:solidFill>
              </a:rPr>
              <a:t> Noise on </a:t>
            </a:r>
            <a:r>
              <a:rPr lang="fr-FR" dirty="0" err="1">
                <a:solidFill>
                  <a:schemeClr val="bg1"/>
                </a:solidFill>
              </a:rPr>
              <a:t>coordinates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Target </a:t>
            </a:r>
            <a:r>
              <a:rPr lang="fr-FR" dirty="0" err="1">
                <a:solidFill>
                  <a:schemeClr val="bg1"/>
                </a:solidFill>
              </a:rPr>
              <a:t>Sequence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b="1" dirty="0">
                <a:solidFill>
                  <a:schemeClr val="bg1"/>
                </a:solidFill>
              </a:rPr>
              <a:t>not encoder image</a:t>
            </a:r>
            <a:endParaRPr lang="fr-CH" b="1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30EAB72-313F-9F41-2885-FDB4898B621C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Maxime Geminiani Welcklen</a:t>
            </a:r>
            <a:endParaRPr lang="fr-CH" sz="1000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E59814EC-4A1E-94EE-EBBA-78B2D1DBD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69E9416-52D4-047D-B7B9-C2F5C7661315}"/>
              </a:ext>
            </a:extLst>
          </p:cNvPr>
          <p:cNvSpPr txBox="1"/>
          <p:nvPr/>
        </p:nvSpPr>
        <p:spPr>
          <a:xfrm>
            <a:off x="11731753" y="6566897"/>
            <a:ext cx="515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</a:rPr>
              <a:t>17/39</a:t>
            </a:r>
            <a:endParaRPr lang="fr-CH" sz="1050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01DB32-AC87-1F01-D751-B3C8C707DF62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Master </a:t>
            </a:r>
            <a:r>
              <a:rPr lang="fr-FR" sz="1000" dirty="0" err="1">
                <a:solidFill>
                  <a:schemeClr val="bg1"/>
                </a:solidFill>
              </a:rPr>
              <a:t>Thesis</a:t>
            </a:r>
            <a:r>
              <a:rPr lang="fr-FR" sz="1000" dirty="0">
                <a:solidFill>
                  <a:schemeClr val="bg1"/>
                </a:solidFill>
              </a:rPr>
              <a:t> </a:t>
            </a:r>
            <a:r>
              <a:rPr lang="fr-FR" sz="1000" dirty="0" err="1">
                <a:solidFill>
                  <a:schemeClr val="bg1"/>
                </a:solidFill>
              </a:rPr>
              <a:t>Defense</a:t>
            </a:r>
            <a:endParaRPr lang="fr-CH" sz="10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7951B2-6DF1-4A3C-EB31-5502EDA0EAD8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EF26750-8038-F87C-0655-CCDCC24B2E95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A212FCE-65A5-3597-809F-38B3CD6F7580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98CE844-DA9A-F7DD-2667-E9CF027F8434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71FA91-91DE-51CF-038A-C4E1C3C9DEBD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11D045-61C9-9558-E8A6-429E059DD6DE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38BC3C-01CC-3779-DBB4-8480F50E7A9A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3A1730-AE5C-3D0C-FE97-FDD91E69ED06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DDDA9B-8075-E536-4421-65FAB59A3EB9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7A7CD6-08A0-141F-3A0F-33AE9EFB5765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BDDBF503-ABF5-26C7-6055-391DEB1A7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25" y="1452071"/>
            <a:ext cx="4115374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31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8116488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1"/>
            <a:ext cx="4062127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86E4D7-AF44-5B59-8054-2ED1A69B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643468"/>
            <a:ext cx="2944152" cy="1622744"/>
          </a:xfrm>
        </p:spPr>
        <p:txBody>
          <a:bodyPr anchor="b">
            <a:normAutofit/>
          </a:bodyPr>
          <a:lstStyle/>
          <a:p>
            <a:r>
              <a:rPr lang="fr-FR" sz="3600">
                <a:solidFill>
                  <a:schemeClr val="tx1"/>
                </a:solidFill>
              </a:rPr>
              <a:t>Losses and Metrics</a:t>
            </a:r>
            <a:endParaRPr lang="fr-CH" sz="3600">
              <a:solidFill>
                <a:schemeClr val="tx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7F66E87-148B-22EE-A196-42C543365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2" y="2190444"/>
            <a:ext cx="7339593" cy="247711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494304-CAC7-6AB9-1F50-131DE3FB4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599" y="2402733"/>
            <a:ext cx="2944151" cy="3774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Three</a:t>
            </a:r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</a:t>
            </a:r>
            <a:r>
              <a:rPr lang="fr-FR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losses</a:t>
            </a:r>
            <a:r>
              <a:rPr lang="fr-FR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</a:t>
            </a:r>
            <a:r>
              <a:rPr lang="fr-FR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considered</a:t>
            </a:r>
            <a:endParaRPr lang="fr-FR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Euclidean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Loss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: Speed</a:t>
            </a:r>
          </a:p>
          <a:p>
            <a:pPr lvl="1"/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Dist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(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Predicted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, 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expected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)</a:t>
            </a:r>
          </a:p>
          <a:p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Skeleton 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Loss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: 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Shapes</a:t>
            </a:r>
            <a:endParaRPr lang="fr-CH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pPr lvl="1"/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Diff(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Original_skel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, 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Predicted_skel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)</a:t>
            </a:r>
          </a:p>
          <a:p>
            <a:pPr lvl="1"/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Closest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(</a:t>
            </a:r>
            <a:r>
              <a:rPr lang="fr-CH" sz="1600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Predicted_pixel</a:t>
            </a:r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, Skeleton)</a:t>
            </a:r>
          </a:p>
          <a:p>
            <a:r>
              <a:rPr lang="fr-CH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</a:t>
            </a:r>
            <a:r>
              <a:rPr lang="fr-CH" sz="1600" strike="sngStrike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EOS: </a:t>
            </a:r>
            <a:r>
              <a:rPr lang="fr-CH" sz="1600" strike="sngStrike" dirty="0" err="1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Stopping</a:t>
            </a:r>
            <a:r>
              <a:rPr lang="fr-CH" sz="1600" strike="sngStrike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instruction</a:t>
            </a:r>
          </a:p>
          <a:p>
            <a:pPr lvl="1"/>
            <a:endParaRPr lang="fr-CH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78ED094-7C5D-CBE4-CBEE-B164A78C0288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761D15E8-7290-59A7-0AF8-A3697AE85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34835A7-D13B-C16C-2224-8830242BDD06}"/>
              </a:ext>
            </a:extLst>
          </p:cNvPr>
          <p:cNvSpPr txBox="1"/>
          <p:nvPr/>
        </p:nvSpPr>
        <p:spPr>
          <a:xfrm>
            <a:off x="11676889" y="6566897"/>
            <a:ext cx="56997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18/39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23B5C13-65AE-BC4E-E443-46319FA3B4D5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762933-1E60-44C7-C763-1A8357E60DEC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75FEA55-BE64-5CE2-8B88-D442B629909C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084A06A-9F58-4DFA-D7A9-39CE4A9B694B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E1760B9-8FFA-C54F-3128-D3CFD7912134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DE5463-6C0D-46E4-D3A2-54818283CA41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8C1531-C570-D89E-FF1A-6DD6582A62C3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E5F610-F169-FC81-F51F-7316E35AEE89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F6004A-522F-EA40-85B0-0B06E534ABBE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286B66-3992-C6C1-8CC5-F8986C100FF9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0AF92F-C3E2-7399-218C-C9BC7316E8B4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57078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742212-79C6-0AB9-F634-EE2DC39D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37" y="308371"/>
            <a:ext cx="5934075" cy="1089024"/>
          </a:xfrm>
        </p:spPr>
        <p:txBody>
          <a:bodyPr/>
          <a:lstStyle/>
          <a:p>
            <a:r>
              <a:rPr lang="fr-FR" dirty="0" err="1"/>
              <a:t>Losses</a:t>
            </a:r>
            <a:r>
              <a:rPr lang="fr-FR" dirty="0"/>
              <a:t> And </a:t>
            </a:r>
            <a:r>
              <a:rPr lang="fr-FR" dirty="0" err="1"/>
              <a:t>Metrics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234079-606C-A445-1F9A-BBA958E1C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8932" y="1402924"/>
            <a:ext cx="2613800" cy="634207"/>
          </a:xfrm>
        </p:spPr>
        <p:txBody>
          <a:bodyPr>
            <a:normAutofit fontScale="62500" lnSpcReduction="20000"/>
          </a:bodyPr>
          <a:lstStyle/>
          <a:p>
            <a:r>
              <a:rPr lang="fr-FR" dirty="0" err="1"/>
              <a:t>Euclidean</a:t>
            </a:r>
            <a:r>
              <a:rPr lang="fr-FR" dirty="0"/>
              <a:t> Distances</a:t>
            </a:r>
          </a:p>
          <a:p>
            <a:r>
              <a:rPr lang="fr-FR" dirty="0"/>
              <a:t>DTW</a:t>
            </a:r>
          </a:p>
          <a:p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D07063-0794-56DD-2C9C-D4918522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071295"/>
            <a:ext cx="8502185" cy="1905553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A784E0A-778C-CA09-D2BE-3DB4454E3C4A}"/>
              </a:ext>
            </a:extLst>
          </p:cNvPr>
          <p:cNvSpPr txBox="1">
            <a:spLocks/>
          </p:cNvSpPr>
          <p:nvPr/>
        </p:nvSpPr>
        <p:spPr>
          <a:xfrm>
            <a:off x="428625" y="3687122"/>
            <a:ext cx="2613800" cy="384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Image </a:t>
            </a:r>
            <a:r>
              <a:rPr lang="fr-FR" dirty="0" err="1"/>
              <a:t>differences</a:t>
            </a:r>
            <a:endParaRPr lang="fr-CH" dirty="0"/>
          </a:p>
        </p:txBody>
      </p:sp>
      <p:pic>
        <p:nvPicPr>
          <p:cNvPr id="8" name="Image 7" descr="Une image contenant ligne, Tracé, diagramme, Police&#10;&#10;Description générée automatiquement">
            <a:extLst>
              <a:ext uri="{FF2B5EF4-FFF2-40B4-BE49-F238E27FC236}">
                <a16:creationId xmlns:a16="http://schemas.microsoft.com/office/drawing/2014/main" id="{13F3BEA3-2EFC-F5A2-2BB8-2BF18FFED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37131"/>
            <a:ext cx="4886732" cy="16499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8C33F6D-62B4-9AE0-7B1A-DC3DCE0A255A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7" name="Image 6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4F05C176-7AB4-F5DB-800E-7ED256E94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2098066-4324-1AA3-A52E-0A72D7A30FF7}"/>
              </a:ext>
            </a:extLst>
          </p:cNvPr>
          <p:cNvSpPr txBox="1"/>
          <p:nvPr/>
        </p:nvSpPr>
        <p:spPr>
          <a:xfrm>
            <a:off x="11731753" y="6566897"/>
            <a:ext cx="515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19/39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6934FF4-D1B8-38CD-374F-99DAF56963CC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A72E7C-D3A8-D0D4-FB34-855695008AA0}"/>
              </a:ext>
            </a:extLst>
          </p:cNvPr>
          <p:cNvSpPr/>
          <p:nvPr/>
        </p:nvSpPr>
        <p:spPr>
          <a:xfrm>
            <a:off x="1115178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63A82E9-7EE3-C916-9B7D-45EC7C296327}"/>
              </a:ext>
            </a:extLst>
          </p:cNvPr>
          <p:cNvSpPr/>
          <p:nvPr/>
        </p:nvSpPr>
        <p:spPr>
          <a:xfrm>
            <a:off x="11022075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8D134B6-77B1-1C6D-8AB9-DF187E3A07EA}"/>
              </a:ext>
            </a:extLst>
          </p:cNvPr>
          <p:cNvSpPr/>
          <p:nvPr/>
        </p:nvSpPr>
        <p:spPr>
          <a:xfrm>
            <a:off x="11819230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28AC4D5-5653-7900-2773-06F7B4A5D387}"/>
              </a:ext>
            </a:extLst>
          </p:cNvPr>
          <p:cNvSpPr/>
          <p:nvPr/>
        </p:nvSpPr>
        <p:spPr>
          <a:xfrm>
            <a:off x="11951615" y="168999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8DA192-93ED-2E93-E415-8557938653BF}"/>
              </a:ext>
            </a:extLst>
          </p:cNvPr>
          <p:cNvSpPr/>
          <p:nvPr/>
        </p:nvSpPr>
        <p:spPr>
          <a:xfrm>
            <a:off x="11245491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A4750A-F200-C96F-CEF1-CA0DD7FA77F8}"/>
              </a:ext>
            </a:extLst>
          </p:cNvPr>
          <p:cNvSpPr/>
          <p:nvPr/>
        </p:nvSpPr>
        <p:spPr>
          <a:xfrm>
            <a:off x="1133919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725328-3BBC-9334-32CA-6C2A624E3E42}"/>
              </a:ext>
            </a:extLst>
          </p:cNvPr>
          <p:cNvSpPr/>
          <p:nvPr/>
        </p:nvSpPr>
        <p:spPr>
          <a:xfrm>
            <a:off x="1143290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780D55-2315-E4B6-B672-6C020A6C6C17}"/>
              </a:ext>
            </a:extLst>
          </p:cNvPr>
          <p:cNvSpPr/>
          <p:nvPr/>
        </p:nvSpPr>
        <p:spPr>
          <a:xfrm>
            <a:off x="11526615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5B9992-F3C0-2FC1-CF91-9866984067E5}"/>
              </a:ext>
            </a:extLst>
          </p:cNvPr>
          <p:cNvSpPr/>
          <p:nvPr/>
        </p:nvSpPr>
        <p:spPr>
          <a:xfrm>
            <a:off x="1162346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EC84A9-651C-6580-C3CF-87F7B2F0CC09}"/>
              </a:ext>
            </a:extLst>
          </p:cNvPr>
          <p:cNvSpPr/>
          <p:nvPr/>
        </p:nvSpPr>
        <p:spPr>
          <a:xfrm>
            <a:off x="11720319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42911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B167C1-102C-51D9-43DB-842CEE63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313" y="687388"/>
            <a:ext cx="6290687" cy="5483225"/>
          </a:xfrm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II – Experiments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AE66EA84-CC94-2CF3-0AC3-6F357C82FF5C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F29F70E8-864B-9825-0644-43724659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CD424AB-4B2E-7C0E-F1CA-FF9CB3555E4F}"/>
              </a:ext>
            </a:extLst>
          </p:cNvPr>
          <p:cNvSpPr txBox="1"/>
          <p:nvPr/>
        </p:nvSpPr>
        <p:spPr>
          <a:xfrm>
            <a:off x="11740897" y="6566897"/>
            <a:ext cx="5059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20/39</a:t>
            </a:r>
            <a:endParaRPr lang="fr-CH" sz="105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D8C8868-7C58-3413-C0ED-1CA5BFE1129C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C72B8B3-0277-E8CB-7D3B-8A6F04E7B0FF}"/>
              </a:ext>
            </a:extLst>
          </p:cNvPr>
          <p:cNvSpPr/>
          <p:nvPr/>
        </p:nvSpPr>
        <p:spPr>
          <a:xfrm>
            <a:off x="10996310" y="168161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B190E63-7BB2-94BC-E7F4-46624BE766A9}"/>
              </a:ext>
            </a:extLst>
          </p:cNvPr>
          <p:cNvSpPr/>
          <p:nvPr/>
        </p:nvSpPr>
        <p:spPr>
          <a:xfrm>
            <a:off x="11147347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5F62DB8-82EB-4167-FA34-F004A2064477}"/>
              </a:ext>
            </a:extLst>
          </p:cNvPr>
          <p:cNvSpPr/>
          <p:nvPr/>
        </p:nvSpPr>
        <p:spPr>
          <a:xfrm>
            <a:off x="11866873" y="166483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17525C-3C94-D684-FE37-EB0CBB80C2FB}"/>
              </a:ext>
            </a:extLst>
          </p:cNvPr>
          <p:cNvSpPr/>
          <p:nvPr/>
        </p:nvSpPr>
        <p:spPr>
          <a:xfrm>
            <a:off x="11297732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54B912-86E9-5997-22DD-BD6DCBF9E152}"/>
              </a:ext>
            </a:extLst>
          </p:cNvPr>
          <p:cNvSpPr/>
          <p:nvPr/>
        </p:nvSpPr>
        <p:spPr>
          <a:xfrm>
            <a:off x="11412117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CC09BC-052A-8265-DC34-38D01D764C27}"/>
              </a:ext>
            </a:extLst>
          </p:cNvPr>
          <p:cNvSpPr/>
          <p:nvPr/>
        </p:nvSpPr>
        <p:spPr>
          <a:xfrm>
            <a:off x="11522155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142688-0C1C-588C-161D-37A5534B87C2}"/>
              </a:ext>
            </a:extLst>
          </p:cNvPr>
          <p:cNvSpPr/>
          <p:nvPr/>
        </p:nvSpPr>
        <p:spPr>
          <a:xfrm>
            <a:off x="11632193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553F3A-7690-E291-127A-1ED5E4CE9014}"/>
              </a:ext>
            </a:extLst>
          </p:cNvPr>
          <p:cNvSpPr/>
          <p:nvPr/>
        </p:nvSpPr>
        <p:spPr>
          <a:xfrm>
            <a:off x="11747230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4643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5198A-639A-472A-C7F0-DBF10BA0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5932"/>
            <a:ext cx="10515600" cy="959586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r"/>
            <a:r>
              <a:rPr lang="en-US" sz="40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Structural Features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74C813D-1C3F-2C25-620D-9ACB3C005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1" y="643464"/>
            <a:ext cx="7740548" cy="388962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C26F5CE-BE9E-8DB6-EF3F-695FFAF99CBE}"/>
              </a:ext>
            </a:extLst>
          </p:cNvPr>
          <p:cNvSpPr txBox="1"/>
          <p:nvPr/>
        </p:nvSpPr>
        <p:spPr>
          <a:xfrm>
            <a:off x="8796900" y="2228671"/>
            <a:ext cx="3022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Small </a:t>
            </a:r>
            <a:r>
              <a:rPr lang="fr-FR" dirty="0" err="1"/>
              <a:t>Dataset</a:t>
            </a:r>
            <a:r>
              <a:rPr lang="fr-FR" dirty="0"/>
              <a:t> (1M), 4 </a:t>
            </a:r>
            <a:r>
              <a:rPr lang="fr-FR" dirty="0" err="1"/>
              <a:t>epochs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Prediction</a:t>
            </a:r>
            <a:r>
              <a:rPr lang="fr-FR" dirty="0"/>
              <a:t> </a:t>
            </a:r>
            <a:r>
              <a:rPr lang="fr-FR" dirty="0" err="1"/>
              <a:t>Tokens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LSTM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Learnable</a:t>
            </a:r>
            <a:r>
              <a:rPr lang="fr-FR" dirty="0"/>
              <a:t> position </a:t>
            </a:r>
            <a:r>
              <a:rPr lang="fr-FR" dirty="0" err="1"/>
              <a:t>tokens</a:t>
            </a:r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2F4DB2-2F18-58F2-59AD-1D0CDBCEF269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7" name="Image 6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2C855733-2A75-0D4E-9167-1E5B87489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5E2F7A7-0B7E-E660-4935-290A7EED8188}"/>
              </a:ext>
            </a:extLst>
          </p:cNvPr>
          <p:cNvSpPr txBox="1"/>
          <p:nvPr/>
        </p:nvSpPr>
        <p:spPr>
          <a:xfrm>
            <a:off x="11713464" y="6566897"/>
            <a:ext cx="5334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21/39</a:t>
            </a:r>
            <a:endParaRPr lang="fr-CH" sz="105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04EE0E2-586D-0111-1ECB-8E06ADB16406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D188A6D-3966-E539-88A0-4EF849D7C382}"/>
              </a:ext>
            </a:extLst>
          </p:cNvPr>
          <p:cNvSpPr/>
          <p:nvPr/>
        </p:nvSpPr>
        <p:spPr>
          <a:xfrm>
            <a:off x="10996310" y="168161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5A98426-09BE-E8C4-2192-CBA37214F8C7}"/>
              </a:ext>
            </a:extLst>
          </p:cNvPr>
          <p:cNvSpPr/>
          <p:nvPr/>
        </p:nvSpPr>
        <p:spPr>
          <a:xfrm>
            <a:off x="11147347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802DD2E-23CC-3471-FC42-EE001D4A9D2C}"/>
              </a:ext>
            </a:extLst>
          </p:cNvPr>
          <p:cNvSpPr/>
          <p:nvPr/>
        </p:nvSpPr>
        <p:spPr>
          <a:xfrm>
            <a:off x="11866873" y="166483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D6B225-8380-7EF0-C692-86B07DC0CC2C}"/>
              </a:ext>
            </a:extLst>
          </p:cNvPr>
          <p:cNvSpPr/>
          <p:nvPr/>
        </p:nvSpPr>
        <p:spPr>
          <a:xfrm>
            <a:off x="11297732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10B225-CE3F-2A7D-E2B4-28FF0199F10F}"/>
              </a:ext>
            </a:extLst>
          </p:cNvPr>
          <p:cNvSpPr/>
          <p:nvPr/>
        </p:nvSpPr>
        <p:spPr>
          <a:xfrm>
            <a:off x="11412117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F67264-DD36-F1E9-CE42-08DEE0571C9A}"/>
              </a:ext>
            </a:extLst>
          </p:cNvPr>
          <p:cNvSpPr/>
          <p:nvPr/>
        </p:nvSpPr>
        <p:spPr>
          <a:xfrm>
            <a:off x="11522155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5739E-2B5A-EE25-4C96-B07718ED9AB3}"/>
              </a:ext>
            </a:extLst>
          </p:cNvPr>
          <p:cNvSpPr/>
          <p:nvPr/>
        </p:nvSpPr>
        <p:spPr>
          <a:xfrm>
            <a:off x="11632193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782095-2458-5885-290B-25855FB7EB53}"/>
              </a:ext>
            </a:extLst>
          </p:cNvPr>
          <p:cNvSpPr/>
          <p:nvPr/>
        </p:nvSpPr>
        <p:spPr>
          <a:xfrm>
            <a:off x="11747230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91798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27188B-30E9-8BAF-EE94-01B4B9D3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5" y="438556"/>
            <a:ext cx="7353888" cy="1325563"/>
          </a:xfrm>
        </p:spPr>
        <p:txBody>
          <a:bodyPr/>
          <a:lstStyle/>
          <a:p>
            <a:r>
              <a:rPr lang="fr-FR" dirty="0"/>
              <a:t>Impact of Augmentation</a:t>
            </a:r>
            <a:endParaRPr lang="fr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D524F8F-9AB9-21EC-1E71-D9E206A12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570" y="1850920"/>
            <a:ext cx="7242803" cy="4201665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2536001-2CF4-424A-36D4-11BB272935E5}"/>
              </a:ext>
            </a:extLst>
          </p:cNvPr>
          <p:cNvSpPr txBox="1"/>
          <p:nvPr/>
        </p:nvSpPr>
        <p:spPr>
          <a:xfrm>
            <a:off x="8543865" y="970278"/>
            <a:ext cx="2889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Gaussian</a:t>
            </a:r>
            <a:r>
              <a:rPr lang="fr-FR" dirty="0"/>
              <a:t> Augmentation</a:t>
            </a:r>
          </a:p>
          <a:p>
            <a:endParaRPr lang="fr-FR" dirty="0"/>
          </a:p>
          <a:p>
            <a:r>
              <a:rPr lang="fr-FR" dirty="0"/>
              <a:t>Training </a:t>
            </a:r>
            <a:r>
              <a:rPr lang="fr-FR" dirty="0" err="1"/>
              <a:t>three</a:t>
            </a:r>
            <a:r>
              <a:rPr lang="fr-FR" dirty="0"/>
              <a:t> </a:t>
            </a:r>
            <a:r>
              <a:rPr lang="fr-FR" dirty="0" err="1"/>
              <a:t>models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Un-</a:t>
            </a:r>
            <a:r>
              <a:rPr lang="fr-FR" dirty="0" err="1"/>
              <a:t>augmented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Augmented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Mixed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 err="1"/>
              <a:t>Analyze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 on </a:t>
            </a:r>
            <a:r>
              <a:rPr lang="fr-FR" dirty="0" err="1"/>
              <a:t>Inference</a:t>
            </a:r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712E32-A8B7-4825-DE88-08DAFA7B8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459" y="3579398"/>
            <a:ext cx="4369079" cy="247318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07C22A6-1C81-B020-96C0-3ADE8FFC893E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8" name="Image 7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E92B4E18-142F-D604-C5C0-809E11884A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F497DDA-1A6C-C7C9-1D4C-30F69B364AF6}"/>
              </a:ext>
            </a:extLst>
          </p:cNvPr>
          <p:cNvSpPr txBox="1"/>
          <p:nvPr/>
        </p:nvSpPr>
        <p:spPr>
          <a:xfrm>
            <a:off x="11740897" y="6566897"/>
            <a:ext cx="5059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22/39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46DE487-1024-E0C3-86CC-1DEB110E50EA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96BC103-A127-FB7E-18FA-A0242A98B7FB}"/>
              </a:ext>
            </a:extLst>
          </p:cNvPr>
          <p:cNvSpPr/>
          <p:nvPr/>
        </p:nvSpPr>
        <p:spPr>
          <a:xfrm>
            <a:off x="10996310" y="168161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C2733DE-98EA-5142-1732-88DEA4940DF5}"/>
              </a:ext>
            </a:extLst>
          </p:cNvPr>
          <p:cNvSpPr/>
          <p:nvPr/>
        </p:nvSpPr>
        <p:spPr>
          <a:xfrm>
            <a:off x="11147347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AFDBFC8-058B-273B-BF70-4014579601D8}"/>
              </a:ext>
            </a:extLst>
          </p:cNvPr>
          <p:cNvSpPr/>
          <p:nvPr/>
        </p:nvSpPr>
        <p:spPr>
          <a:xfrm>
            <a:off x="11866873" y="166483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1D9657-AA80-DE42-F4A1-93FEFAD5A0E4}"/>
              </a:ext>
            </a:extLst>
          </p:cNvPr>
          <p:cNvSpPr/>
          <p:nvPr/>
        </p:nvSpPr>
        <p:spPr>
          <a:xfrm>
            <a:off x="11297732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8A9812-EA2F-ABE4-F634-C3FAAEA6B203}"/>
              </a:ext>
            </a:extLst>
          </p:cNvPr>
          <p:cNvSpPr/>
          <p:nvPr/>
        </p:nvSpPr>
        <p:spPr>
          <a:xfrm>
            <a:off x="1141211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A51F94-7ED6-D573-06A6-3D53ED3F2AEA}"/>
              </a:ext>
            </a:extLst>
          </p:cNvPr>
          <p:cNvSpPr/>
          <p:nvPr/>
        </p:nvSpPr>
        <p:spPr>
          <a:xfrm>
            <a:off x="11522155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D9BE40-BCF3-93A8-D154-5CED0A95BF5D}"/>
              </a:ext>
            </a:extLst>
          </p:cNvPr>
          <p:cNvSpPr/>
          <p:nvPr/>
        </p:nvSpPr>
        <p:spPr>
          <a:xfrm>
            <a:off x="11632193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81FE76-BD48-1855-D589-5961955462FF}"/>
              </a:ext>
            </a:extLst>
          </p:cNvPr>
          <p:cNvSpPr/>
          <p:nvPr/>
        </p:nvSpPr>
        <p:spPr>
          <a:xfrm>
            <a:off x="11747230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231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454C5-63DC-8BEE-DFC3-D6A31B554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64" y="146391"/>
            <a:ext cx="10515600" cy="1325563"/>
          </a:xfrm>
        </p:spPr>
        <p:txBody>
          <a:bodyPr/>
          <a:lstStyle/>
          <a:p>
            <a:r>
              <a:rPr lang="fr-FR" dirty="0" err="1"/>
              <a:t>Finding</a:t>
            </a:r>
            <a:r>
              <a:rPr lang="fr-FR" dirty="0"/>
              <a:t> the Best Candidate</a:t>
            </a:r>
            <a:endParaRPr lang="fr-CH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790B688-C36F-3954-607D-202BB3C3D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405" y="1663256"/>
            <a:ext cx="2785650" cy="4642751"/>
          </a:xfr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DB5AD5D-CE5C-0BF7-B2FE-D275DF0C7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305329"/>
              </p:ext>
            </p:extLst>
          </p:nvPr>
        </p:nvGraphicFramePr>
        <p:xfrm>
          <a:off x="316992" y="1319697"/>
          <a:ext cx="1740408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408">
                  <a:extLst>
                    <a:ext uri="{9D8B030D-6E8A-4147-A177-3AD203B41FA5}">
                      <a16:colId xmlns:a16="http://schemas.microsoft.com/office/drawing/2014/main" val="498325247"/>
                    </a:ext>
                  </a:extLst>
                </a:gridCol>
              </a:tblGrid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>
                          <a:solidFill>
                            <a:schemeClr val="bg1"/>
                          </a:solidFill>
                        </a:rPr>
                        <a:t>Prediction</a:t>
                      </a:r>
                      <a:r>
                        <a:rPr lang="fr-CH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CH" sz="1400" b="0" dirty="0" err="1">
                          <a:solidFill>
                            <a:schemeClr val="bg1"/>
                          </a:solidFill>
                        </a:rPr>
                        <a:t>Token</a:t>
                      </a:r>
                      <a:endParaRPr lang="fr-CH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78544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r>
                        <a:rPr lang="fr-CH" sz="1400" b="0" dirty="0"/>
                        <a:t>LSTM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98361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Learnable</a:t>
                      </a:r>
                      <a:r>
                        <a:rPr lang="fr-CH" sz="1400" b="0" dirty="0"/>
                        <a:t> </a:t>
                      </a:r>
                      <a:r>
                        <a:rPr lang="fr-CH" sz="1400" b="0" dirty="0" err="1"/>
                        <a:t>tokens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391701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Image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76946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Patch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64039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Hidden</a:t>
                      </a:r>
                      <a:r>
                        <a:rPr lang="fr-CH" sz="1400" b="0" dirty="0"/>
                        <a:t>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672803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Context</a:t>
                      </a:r>
                      <a:r>
                        <a:rPr lang="fr-CH" sz="1400" b="0" dirty="0"/>
                        <a:t> </a:t>
                      </a:r>
                      <a:r>
                        <a:rPr lang="fr-CH" sz="1400" b="0" dirty="0" err="1"/>
                        <a:t>length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209283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Batch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466906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LR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122929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37609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Layers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685351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FFN </a:t>
                      </a:r>
                      <a:r>
                        <a:rPr lang="fr-CH" sz="1400" b="0" dirty="0" err="1"/>
                        <a:t>act</a:t>
                      </a:r>
                      <a:r>
                        <a:rPr lang="fr-CH" sz="1400" b="0" dirty="0"/>
                        <a:t>. </a:t>
                      </a:r>
                      <a:r>
                        <a:rPr lang="fr-CH" sz="1400" b="0" dirty="0" err="1"/>
                        <a:t>functions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865256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FFN expansion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47985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Loss</a:t>
                      </a:r>
                      <a:r>
                        <a:rPr lang="fr-CH" sz="1400" b="0" dirty="0"/>
                        <a:t> </a:t>
                      </a:r>
                      <a:r>
                        <a:rPr lang="fr-CH" sz="1400" b="0" dirty="0" err="1"/>
                        <a:t>weights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29460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Skeleton </a:t>
                      </a:r>
                      <a:r>
                        <a:rPr lang="fr-CH" sz="1400" b="0" dirty="0" err="1"/>
                        <a:t>loss</a:t>
                      </a:r>
                      <a:r>
                        <a:rPr lang="fr-CH" sz="1400" b="0" dirty="0"/>
                        <a:t>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473383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Gaussian</a:t>
                      </a:r>
                      <a:r>
                        <a:rPr lang="fr-CH" sz="1400" b="0" dirty="0"/>
                        <a:t> STD - </a:t>
                      </a:r>
                      <a:r>
                        <a:rPr lang="fr-CH" sz="1400" b="0" dirty="0" err="1"/>
                        <a:t>Mean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574242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DA80D082-E9CA-C94B-818E-5F5E297D9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613712"/>
              </p:ext>
            </p:extLst>
          </p:nvPr>
        </p:nvGraphicFramePr>
        <p:xfrm>
          <a:off x="2913291" y="1319697"/>
          <a:ext cx="124968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>
                  <a:extLst>
                    <a:ext uri="{9D8B030D-6E8A-4147-A177-3AD203B41FA5}">
                      <a16:colId xmlns:a16="http://schemas.microsoft.com/office/drawing/2014/main" val="498325247"/>
                    </a:ext>
                  </a:extLst>
                </a:gridCol>
              </a:tblGrid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78544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r>
                        <a:rPr lang="fr-CH" sz="1400" b="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98361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391701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96 x 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76946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16 x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64039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672803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209283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466906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122929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37609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685351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Leaky</a:t>
                      </a:r>
                      <a:r>
                        <a:rPr lang="fr-CH" sz="1400" b="0" dirty="0"/>
                        <a:t> Relu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865256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47985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294602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Last Pixel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473383"/>
                  </a:ext>
                </a:extLst>
              </a:tr>
              <a:tr h="295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1</a:t>
                      </a:r>
                      <a:r>
                        <a:rPr lang="fr-CH" sz="1400" b="0" dirty="0"/>
                        <a:t>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574242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8274CCAF-C957-4F94-672A-3F91C0E7A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15856"/>
              </p:ext>
            </p:extLst>
          </p:nvPr>
        </p:nvGraphicFramePr>
        <p:xfrm>
          <a:off x="5018863" y="3203360"/>
          <a:ext cx="2785650" cy="14325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453097">
                  <a:extLst>
                    <a:ext uri="{9D8B030D-6E8A-4147-A177-3AD203B41FA5}">
                      <a16:colId xmlns:a16="http://schemas.microsoft.com/office/drawing/2014/main" val="498325247"/>
                    </a:ext>
                  </a:extLst>
                </a:gridCol>
                <a:gridCol w="1332553">
                  <a:extLst>
                    <a:ext uri="{9D8B030D-6E8A-4147-A177-3AD203B41FA5}">
                      <a16:colId xmlns:a16="http://schemas.microsoft.com/office/drawing/2014/main" val="31438192"/>
                    </a:ext>
                  </a:extLst>
                </a:gridCol>
              </a:tblGrid>
              <a:tr h="3015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LR</a:t>
                      </a:r>
                      <a:endParaRPr lang="fr-CH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1</a:t>
                      </a:r>
                      <a:r>
                        <a:rPr lang="fr-FR" sz="1400" b="0" baseline="30000" dirty="0"/>
                        <a:t>e</a:t>
                      </a:r>
                      <a:r>
                        <a:rPr lang="fr-FR" sz="1400" b="0" dirty="0"/>
                        <a:t>-3, 1</a:t>
                      </a:r>
                      <a:r>
                        <a:rPr lang="fr-FR" sz="1400" b="0" baseline="30000" dirty="0"/>
                        <a:t>e</a:t>
                      </a:r>
                      <a:r>
                        <a:rPr lang="fr-FR" sz="1400" b="0" dirty="0"/>
                        <a:t>-4, 1</a:t>
                      </a:r>
                      <a:r>
                        <a:rPr lang="fr-FR" sz="1400" b="0" baseline="30000" dirty="0"/>
                        <a:t>e</a:t>
                      </a:r>
                      <a:r>
                        <a:rPr lang="fr-FR" sz="1400" b="0" dirty="0"/>
                        <a:t>-5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122929"/>
                  </a:ext>
                </a:extLst>
              </a:tr>
              <a:tr h="3015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4, 8, 16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376092"/>
                  </a:ext>
                </a:extLst>
              </a:tr>
              <a:tr h="3015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Layers</a:t>
                      </a:r>
                      <a:endParaRPr lang="fr-CH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6, 12</a:t>
                      </a:r>
                      <a:endParaRPr lang="fr-CH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685351"/>
                  </a:ext>
                </a:extLst>
              </a:tr>
              <a:tr h="512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Losses</a:t>
                      </a:r>
                      <a:r>
                        <a:rPr lang="fr-CH" sz="1400" b="0" dirty="0"/>
                        <a:t>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(1,0) (1,1) (1,</a:t>
                      </a:r>
                      <a:r>
                        <a:rPr lang="fr-CH" sz="1400" b="0" dirty="0"/>
                        <a:t>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(0,1) (1,1) (3,</a:t>
                      </a:r>
                      <a:r>
                        <a:rPr lang="fr-CH" sz="1400" b="0" dirty="0"/>
                        <a:t>1)</a:t>
                      </a:r>
                      <a:endParaRPr lang="fr-FR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294602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F58B83E3-7087-519F-5C15-A578CCB5FED8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14" name="Image 1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BDE97730-9CA1-DC9C-770B-2527FB3A0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E55D3AB-EC76-D4C9-3281-7CE8231E50F3}"/>
              </a:ext>
            </a:extLst>
          </p:cNvPr>
          <p:cNvSpPr txBox="1"/>
          <p:nvPr/>
        </p:nvSpPr>
        <p:spPr>
          <a:xfrm>
            <a:off x="11731753" y="6566897"/>
            <a:ext cx="515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23/39</a:t>
            </a:r>
            <a:endParaRPr lang="fr-CH" sz="105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B35A913-CFC7-A0A6-0268-9045BF82FA9E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1A19BF4-8EBA-002C-3085-8D4543441A22}"/>
              </a:ext>
            </a:extLst>
          </p:cNvPr>
          <p:cNvSpPr/>
          <p:nvPr/>
        </p:nvSpPr>
        <p:spPr>
          <a:xfrm>
            <a:off x="10996310" y="168161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E12B3B-C5CA-8753-BBFA-340DB3F514D2}"/>
              </a:ext>
            </a:extLst>
          </p:cNvPr>
          <p:cNvSpPr/>
          <p:nvPr/>
        </p:nvSpPr>
        <p:spPr>
          <a:xfrm>
            <a:off x="11147347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2506F89-1B4D-0BD8-CF92-5E22DF42EC1D}"/>
              </a:ext>
            </a:extLst>
          </p:cNvPr>
          <p:cNvSpPr/>
          <p:nvPr/>
        </p:nvSpPr>
        <p:spPr>
          <a:xfrm>
            <a:off x="11866873" y="166483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0D1507-A51F-0773-79A5-D659F2186613}"/>
              </a:ext>
            </a:extLst>
          </p:cNvPr>
          <p:cNvSpPr/>
          <p:nvPr/>
        </p:nvSpPr>
        <p:spPr>
          <a:xfrm>
            <a:off x="11297732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CE0B43-4B32-0339-342B-7F88D2DBEE6D}"/>
              </a:ext>
            </a:extLst>
          </p:cNvPr>
          <p:cNvSpPr/>
          <p:nvPr/>
        </p:nvSpPr>
        <p:spPr>
          <a:xfrm>
            <a:off x="1141211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395D50-DC61-5AD1-6855-839DE4BE1F10}"/>
              </a:ext>
            </a:extLst>
          </p:cNvPr>
          <p:cNvSpPr/>
          <p:nvPr/>
        </p:nvSpPr>
        <p:spPr>
          <a:xfrm>
            <a:off x="11522155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7616FB-FE48-D73C-136B-2A42EF51B395}"/>
              </a:ext>
            </a:extLst>
          </p:cNvPr>
          <p:cNvSpPr/>
          <p:nvPr/>
        </p:nvSpPr>
        <p:spPr>
          <a:xfrm>
            <a:off x="11632193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3C267C-696C-D2E3-42D3-E8025E054FB2}"/>
              </a:ext>
            </a:extLst>
          </p:cNvPr>
          <p:cNvSpPr/>
          <p:nvPr/>
        </p:nvSpPr>
        <p:spPr>
          <a:xfrm>
            <a:off x="11747230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D876041-38F5-C567-8FBE-7D34A026F0BC}"/>
              </a:ext>
            </a:extLst>
          </p:cNvPr>
          <p:cNvSpPr txBox="1"/>
          <p:nvPr/>
        </p:nvSpPr>
        <p:spPr>
          <a:xfrm>
            <a:off x="5023567" y="4809909"/>
            <a:ext cx="2419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108 candidates</a:t>
            </a:r>
          </a:p>
          <a:p>
            <a:r>
              <a:rPr lang="fr-FR" dirty="0" err="1"/>
              <a:t>Median</a:t>
            </a:r>
            <a:r>
              <a:rPr lang="fr-FR" dirty="0"/>
              <a:t> at 54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37145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BEDDB-BA6F-CFE5-5038-7768A71E1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" y="142997"/>
            <a:ext cx="10515600" cy="1325563"/>
          </a:xfrm>
        </p:spPr>
        <p:txBody>
          <a:bodyPr/>
          <a:lstStyle/>
          <a:p>
            <a:r>
              <a:rPr lang="fr-FR" dirty="0"/>
              <a:t>Impact of Training size</a:t>
            </a:r>
            <a:endParaRPr lang="fr-CH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1B1D64B-32CB-B000-663A-36FA38F3C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412" y="1318361"/>
            <a:ext cx="4124901" cy="3210373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DE3254D-65CB-69DF-C327-BEEB82CC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034" y="485933"/>
            <a:ext cx="5171566" cy="368110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A6D15AB-85F1-D961-0F98-84DB6CF5CC05}"/>
              </a:ext>
            </a:extLst>
          </p:cNvPr>
          <p:cNvSpPr txBox="1"/>
          <p:nvPr/>
        </p:nvSpPr>
        <p:spPr>
          <a:xfrm>
            <a:off x="1040413" y="4679379"/>
            <a:ext cx="412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Training for longer</a:t>
            </a:r>
          </a:p>
          <a:p>
            <a:r>
              <a:rPr lang="fr-FR" dirty="0"/>
              <a:t>4 </a:t>
            </a:r>
            <a:r>
              <a:rPr lang="fr-FR" dirty="0" err="1"/>
              <a:t>Epochs</a:t>
            </a:r>
            <a:r>
              <a:rPr lang="fr-FR" dirty="0"/>
              <a:t> -&gt; 30 </a:t>
            </a:r>
            <a:r>
              <a:rPr lang="fr-FR" dirty="0" err="1"/>
              <a:t>Epochs</a:t>
            </a:r>
            <a:endParaRPr lang="fr-CH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39330CB-656F-EE7B-EF8C-7C4DE01D32F6}"/>
              </a:ext>
            </a:extLst>
          </p:cNvPr>
          <p:cNvSpPr txBox="1"/>
          <p:nvPr/>
        </p:nvSpPr>
        <p:spPr>
          <a:xfrm>
            <a:off x="6868034" y="4378534"/>
            <a:ext cx="5171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Impact of </a:t>
            </a:r>
            <a:r>
              <a:rPr lang="fr-FR" dirty="0" err="1"/>
              <a:t>larger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  <a:p>
            <a:endParaRPr lang="fr-FR" dirty="0"/>
          </a:p>
          <a:p>
            <a:r>
              <a:rPr lang="fr-FR" dirty="0"/>
              <a:t>1M </a:t>
            </a:r>
            <a:r>
              <a:rPr lang="fr-FR" dirty="0" err="1"/>
              <a:t>datapoints</a:t>
            </a:r>
            <a:r>
              <a:rPr lang="fr-FR" dirty="0"/>
              <a:t>, 30 </a:t>
            </a:r>
            <a:r>
              <a:rPr lang="fr-FR" dirty="0" err="1"/>
              <a:t>epochs</a:t>
            </a:r>
            <a:r>
              <a:rPr lang="fr-FR" dirty="0"/>
              <a:t>, 30M </a:t>
            </a:r>
            <a:r>
              <a:rPr lang="fr-FR" dirty="0" err="1"/>
              <a:t>datapoints</a:t>
            </a:r>
            <a:endParaRPr lang="fr-FR" dirty="0"/>
          </a:p>
          <a:p>
            <a:r>
              <a:rPr lang="fr-FR" dirty="0"/>
              <a:t>4M </a:t>
            </a:r>
            <a:r>
              <a:rPr lang="fr-FR" dirty="0" err="1"/>
              <a:t>datapoints</a:t>
            </a:r>
            <a:r>
              <a:rPr lang="fr-FR" dirty="0"/>
              <a:t>, 8 </a:t>
            </a:r>
            <a:r>
              <a:rPr lang="fr-FR" dirty="0" err="1"/>
              <a:t>epochs</a:t>
            </a:r>
            <a:r>
              <a:rPr lang="fr-FR" dirty="0"/>
              <a:t>, 32M </a:t>
            </a:r>
            <a:r>
              <a:rPr lang="fr-FR" dirty="0" err="1"/>
              <a:t>datapoints</a:t>
            </a:r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B3BF35-5F43-B8BF-7FB3-E669774CA8E1}"/>
              </a:ext>
            </a:extLst>
          </p:cNvPr>
          <p:cNvSpPr txBox="1"/>
          <p:nvPr/>
        </p:nvSpPr>
        <p:spPr>
          <a:xfrm>
            <a:off x="1040413" y="5578863"/>
            <a:ext cx="412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 </a:t>
            </a:r>
            <a:r>
              <a:rPr lang="fr-FR" dirty="0" err="1"/>
              <a:t>sign</a:t>
            </a:r>
            <a:r>
              <a:rPr lang="fr-FR" dirty="0"/>
              <a:t> of plateau, constant </a:t>
            </a:r>
            <a:r>
              <a:rPr lang="fr-FR" dirty="0" err="1"/>
              <a:t>learning</a:t>
            </a:r>
            <a:endParaRPr lang="fr-CH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32826FF-1F3C-0F42-AD70-39CAD2F5C03A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9" name="Image 8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BC94FEB3-788C-DAA8-2BE6-EE1C1603B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84CECB0-6E6A-E647-AEF0-02762CF31F9F}"/>
              </a:ext>
            </a:extLst>
          </p:cNvPr>
          <p:cNvSpPr txBox="1"/>
          <p:nvPr/>
        </p:nvSpPr>
        <p:spPr>
          <a:xfrm>
            <a:off x="11722609" y="6566897"/>
            <a:ext cx="52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24/39</a:t>
            </a:r>
            <a:endParaRPr lang="fr-CH" sz="105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1CECA33-2BD6-3330-08A6-7EE7300704D1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A0A6553-C77C-D4A6-8391-F3DBF9581D49}"/>
              </a:ext>
            </a:extLst>
          </p:cNvPr>
          <p:cNvSpPr/>
          <p:nvPr/>
        </p:nvSpPr>
        <p:spPr>
          <a:xfrm>
            <a:off x="10996310" y="168161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DDB81BE-28E4-C00A-69B5-D6FF084926E8}"/>
              </a:ext>
            </a:extLst>
          </p:cNvPr>
          <p:cNvSpPr/>
          <p:nvPr/>
        </p:nvSpPr>
        <p:spPr>
          <a:xfrm>
            <a:off x="11147347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D067CF6-02A2-8546-52C5-DEDF555CCF97}"/>
              </a:ext>
            </a:extLst>
          </p:cNvPr>
          <p:cNvSpPr/>
          <p:nvPr/>
        </p:nvSpPr>
        <p:spPr>
          <a:xfrm>
            <a:off x="11866873" y="166483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C1961C-8809-CDED-70BB-9B837AD35A2D}"/>
              </a:ext>
            </a:extLst>
          </p:cNvPr>
          <p:cNvSpPr/>
          <p:nvPr/>
        </p:nvSpPr>
        <p:spPr>
          <a:xfrm>
            <a:off x="11297732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724D41-6B79-5EC1-FA25-09038729E97D}"/>
              </a:ext>
            </a:extLst>
          </p:cNvPr>
          <p:cNvSpPr/>
          <p:nvPr/>
        </p:nvSpPr>
        <p:spPr>
          <a:xfrm>
            <a:off x="1141211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0880B0-457D-DDD6-D272-AEF8672C4238}"/>
              </a:ext>
            </a:extLst>
          </p:cNvPr>
          <p:cNvSpPr/>
          <p:nvPr/>
        </p:nvSpPr>
        <p:spPr>
          <a:xfrm>
            <a:off x="11522155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81B424-7281-1585-976E-06457AF23777}"/>
              </a:ext>
            </a:extLst>
          </p:cNvPr>
          <p:cNvSpPr/>
          <p:nvPr/>
        </p:nvSpPr>
        <p:spPr>
          <a:xfrm>
            <a:off x="1163219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161889-6DA9-B0F0-0E40-340EF1791278}"/>
              </a:ext>
            </a:extLst>
          </p:cNvPr>
          <p:cNvSpPr/>
          <p:nvPr/>
        </p:nvSpPr>
        <p:spPr>
          <a:xfrm>
            <a:off x="11747230" y="16899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4419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56466-828B-C6E9-A37C-4C66E06F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LSTM Ablation </a:t>
            </a:r>
            <a:r>
              <a:rPr lang="fr-FR" dirty="0" err="1"/>
              <a:t>study</a:t>
            </a:r>
            <a:r>
              <a:rPr lang="fr-FR" dirty="0"/>
              <a:t>	</a:t>
            </a:r>
            <a:endParaRPr lang="fr-CH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A264061-5D13-864D-1039-0C5A28D61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5400"/>
            <a:ext cx="6296904" cy="4182059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92B8615-1242-7324-C047-8B407DC12595}"/>
              </a:ext>
            </a:extLst>
          </p:cNvPr>
          <p:cNvSpPr txBox="1"/>
          <p:nvPr/>
        </p:nvSpPr>
        <p:spPr>
          <a:xfrm>
            <a:off x="7936992" y="1855400"/>
            <a:ext cx="2889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Best Candidate</a:t>
            </a:r>
          </a:p>
          <a:p>
            <a:r>
              <a:rPr lang="fr-FR" dirty="0"/>
              <a:t>30 </a:t>
            </a:r>
            <a:r>
              <a:rPr lang="fr-FR" dirty="0" err="1"/>
              <a:t>Epochs</a:t>
            </a:r>
            <a:endParaRPr lang="fr-FR" dirty="0"/>
          </a:p>
          <a:p>
            <a:r>
              <a:rPr lang="fr-FR" dirty="0" err="1"/>
              <a:t>With</a:t>
            </a:r>
            <a:r>
              <a:rPr lang="fr-FR" dirty="0"/>
              <a:t> / </a:t>
            </a:r>
            <a:r>
              <a:rPr lang="fr-FR" dirty="0" err="1"/>
              <a:t>Without</a:t>
            </a:r>
            <a:r>
              <a:rPr lang="fr-FR" dirty="0"/>
              <a:t> LSTM</a:t>
            </a:r>
          </a:p>
          <a:p>
            <a:endParaRPr lang="fr-FR" dirty="0"/>
          </a:p>
          <a:p>
            <a:r>
              <a:rPr lang="fr-FR" dirty="0" err="1"/>
              <a:t>Faster</a:t>
            </a:r>
            <a:r>
              <a:rPr lang="fr-FR" dirty="0"/>
              <a:t> start </a:t>
            </a:r>
            <a:r>
              <a:rPr lang="fr-FR" dirty="0" err="1"/>
              <a:t>until</a:t>
            </a:r>
            <a:r>
              <a:rPr lang="fr-FR" dirty="0"/>
              <a:t> </a:t>
            </a:r>
            <a:r>
              <a:rPr lang="fr-FR" dirty="0" err="1"/>
              <a:t>epoch</a:t>
            </a:r>
            <a:r>
              <a:rPr lang="fr-FR" dirty="0"/>
              <a:t> 5</a:t>
            </a:r>
          </a:p>
          <a:p>
            <a:r>
              <a:rPr lang="fr-FR" dirty="0" err="1"/>
              <a:t>Slower</a:t>
            </a:r>
            <a:r>
              <a:rPr lang="fr-FR" dirty="0"/>
              <a:t> convergence</a:t>
            </a:r>
            <a:endParaRPr lang="fr-CH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7EEEC2B-975B-F5CD-7EE6-D71BF06BDAF7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162A2F1A-7A16-ACA2-C41E-32D0928E3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E59F059-55E0-19FA-5D1B-9C042E3CECE2}"/>
              </a:ext>
            </a:extLst>
          </p:cNvPr>
          <p:cNvSpPr txBox="1"/>
          <p:nvPr/>
        </p:nvSpPr>
        <p:spPr>
          <a:xfrm>
            <a:off x="11722609" y="6566897"/>
            <a:ext cx="52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25/39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87320AF-3A1A-0C8E-E2B0-77BD0BE6D55B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D9CD7A7-4560-09B7-75C1-47ED198BAB31}"/>
              </a:ext>
            </a:extLst>
          </p:cNvPr>
          <p:cNvSpPr/>
          <p:nvPr/>
        </p:nvSpPr>
        <p:spPr>
          <a:xfrm>
            <a:off x="10996310" y="168161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204AB80-403D-00E6-9E2C-8A1BA9E79B7D}"/>
              </a:ext>
            </a:extLst>
          </p:cNvPr>
          <p:cNvSpPr/>
          <p:nvPr/>
        </p:nvSpPr>
        <p:spPr>
          <a:xfrm>
            <a:off x="11147347" y="16899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6715DE6-4E02-2475-D3CB-355194389066}"/>
              </a:ext>
            </a:extLst>
          </p:cNvPr>
          <p:cNvSpPr/>
          <p:nvPr/>
        </p:nvSpPr>
        <p:spPr>
          <a:xfrm>
            <a:off x="11866873" y="166483"/>
            <a:ext cx="108000" cy="108000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C46610-0B16-8FDD-1827-D8BE47197AC5}"/>
              </a:ext>
            </a:extLst>
          </p:cNvPr>
          <p:cNvSpPr/>
          <p:nvPr/>
        </p:nvSpPr>
        <p:spPr>
          <a:xfrm>
            <a:off x="11297732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E475DD-4974-8E87-CACE-7B3AFE084680}"/>
              </a:ext>
            </a:extLst>
          </p:cNvPr>
          <p:cNvSpPr/>
          <p:nvPr/>
        </p:nvSpPr>
        <p:spPr>
          <a:xfrm>
            <a:off x="11412117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DD70DB-34A0-C575-5AB7-1F0485B6B820}"/>
              </a:ext>
            </a:extLst>
          </p:cNvPr>
          <p:cNvSpPr/>
          <p:nvPr/>
        </p:nvSpPr>
        <p:spPr>
          <a:xfrm>
            <a:off x="11522155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DDDA72-17C5-8F62-3994-C92A0A89D4E6}"/>
              </a:ext>
            </a:extLst>
          </p:cNvPr>
          <p:cNvSpPr/>
          <p:nvPr/>
        </p:nvSpPr>
        <p:spPr>
          <a:xfrm>
            <a:off x="11632193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61DF1D-19D5-5417-F48E-D1A24603771E}"/>
              </a:ext>
            </a:extLst>
          </p:cNvPr>
          <p:cNvSpPr/>
          <p:nvPr/>
        </p:nvSpPr>
        <p:spPr>
          <a:xfrm>
            <a:off x="11747230" y="16899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92271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C8217B-C1EC-742F-3C96-E299A912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313" y="687388"/>
            <a:ext cx="6290687" cy="5483225"/>
          </a:xfrm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III - Results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1A7B1AF0-C912-B347-BA65-4D3E32CF0699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2472B9E0-E611-0420-8034-78CFCCEBC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EAE6159-6BD7-0063-894E-59286086046D}"/>
              </a:ext>
            </a:extLst>
          </p:cNvPr>
          <p:cNvSpPr txBox="1"/>
          <p:nvPr/>
        </p:nvSpPr>
        <p:spPr>
          <a:xfrm>
            <a:off x="11722609" y="6566897"/>
            <a:ext cx="52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26/39</a:t>
            </a:r>
            <a:endParaRPr lang="fr-CH" sz="105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98A733-DF22-CAAA-2AF4-B0E27F6C86FE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DE8F18-E891-35DA-853D-FE9ABBF06530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218F328-99F9-85FE-4ADC-249D9C05C6AC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D8886D8-A6BE-BF8C-7771-230A58E0E40F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53A86C1-A64B-7CAA-4A81-D0385646F120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EB9422-F983-943F-2BCB-8A7B1CB7E609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E9760-7465-FC83-1490-7AFCD9C56B2C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D534F-A95A-E801-395F-8479C25D250F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E1057F-0F6D-5D7D-7F34-F9896976483C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B893FE-2470-2C33-D8DD-027296C854E4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606010-6BEC-67BB-0208-3DDEA81587B1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D876AE-D72E-E0B1-F268-17D6CCB68C16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CDDC7C-4A5B-9A46-2F22-4DD0EF6BE1A8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34251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8116488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1"/>
            <a:ext cx="4062127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D7D969-E436-2906-93C7-14F59EB6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643468"/>
            <a:ext cx="2944152" cy="1622744"/>
          </a:xfrm>
        </p:spPr>
        <p:txBody>
          <a:bodyPr anchor="b">
            <a:normAutofit/>
          </a:bodyPr>
          <a:lstStyle/>
          <a:p>
            <a:r>
              <a:rPr lang="fr-FR" sz="3600">
                <a:solidFill>
                  <a:schemeClr val="tx1"/>
                </a:solidFill>
              </a:rPr>
              <a:t>Working small signals</a:t>
            </a:r>
            <a:endParaRPr lang="fr-CH" sz="3600">
              <a:solidFill>
                <a:schemeClr val="tx1"/>
              </a:solidFill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F373C81-C716-137E-21AA-01276D470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712717"/>
            <a:ext cx="6833412" cy="543256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B1E55C-A9AE-3FC5-AFF2-60DBD1710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599" y="2402733"/>
            <a:ext cx="2944151" cy="3774230"/>
          </a:xfrm>
        </p:spPr>
        <p:txBody>
          <a:bodyPr>
            <a:normAutofit/>
          </a:bodyPr>
          <a:lstStyle/>
          <a:p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Good predictions, speed on some small signals</a:t>
            </a:r>
          </a:p>
          <a:p>
            <a:pPr lvl="1"/>
            <a:r>
              <a:rPr lang="en-US" sz="12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One character</a:t>
            </a:r>
          </a:p>
          <a:p>
            <a:endParaRPr lang="en-US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Diff images ~50%</a:t>
            </a:r>
          </a:p>
          <a:p>
            <a:pPr lvl="1"/>
            <a:r>
              <a:rPr lang="en-US" sz="12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3</a:t>
            </a:r>
            <a:r>
              <a:rPr lang="en-US" sz="1200" baseline="300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rd</a:t>
            </a:r>
            <a:r>
              <a:rPr lang="en-US" sz="12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 Quartile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AE4B3B-D15C-90D2-BF73-A1720EB67C4A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7" name="Image 6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27349E1E-DEAA-BF25-CD5D-62E9C3CE6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07BE8D2-72F8-CF35-0287-A618412C91C9}"/>
              </a:ext>
            </a:extLst>
          </p:cNvPr>
          <p:cNvSpPr txBox="1"/>
          <p:nvPr/>
        </p:nvSpPr>
        <p:spPr>
          <a:xfrm>
            <a:off x="11713465" y="6566897"/>
            <a:ext cx="5334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27/39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A101F52-4979-BEA9-763E-E2BD20A4F6F8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7AF0B-62B4-5637-EFD3-A955B369BA8E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0BC3CA9-168D-D1EF-FE1E-9E60CC82C6BE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23DB9B9-9FA2-BE57-7A95-E49E2AD93D28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B906585-E945-73ED-DDCC-39B64860B035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923788-5600-901C-948D-C82E284F0474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0E6673-7811-B68C-2328-387DDD49CB4E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DF2259-C3B9-E235-A7AE-8C3D6073F167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B6C550-028F-75DD-7738-67C34D58CE4F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231DD6-7822-A43E-E230-30DC26D9987C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C3AC8F-E0A5-C7A1-1C5E-282652E8D0F4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1E9C71-4666-A7A5-AC94-53EB4FAF614A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DBD803-1B3F-BE7F-60CE-28753B27B571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00452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8116488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1"/>
            <a:ext cx="4062127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A76DE7-12CE-DD2B-8081-1615094D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643468"/>
            <a:ext cx="2944152" cy="16227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Failures to stop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C615417-DA9F-4964-D451-F20E00F64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3772" y="643467"/>
            <a:ext cx="6752803" cy="55710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A20110A-7A7E-C104-9B27-F729A57FA486}"/>
              </a:ext>
            </a:extLst>
          </p:cNvPr>
          <p:cNvSpPr txBox="1"/>
          <p:nvPr/>
        </p:nvSpPr>
        <p:spPr>
          <a:xfrm>
            <a:off x="8610599" y="2402733"/>
            <a:ext cx="2944151" cy="3774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Difficulty to stop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EOS Token at exactly [-1; -1]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Miss-predictions are very costly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pPr marL="57150"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Mitigations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Can be detected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More training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775B269-9714-6E03-F4EF-F15B95720C97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8" name="Image 7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2A10D52D-EBAC-1146-B4B5-785365EA7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5F32EA4-9324-3773-87C4-C8B9C93AA008}"/>
              </a:ext>
            </a:extLst>
          </p:cNvPr>
          <p:cNvSpPr txBox="1"/>
          <p:nvPr/>
        </p:nvSpPr>
        <p:spPr>
          <a:xfrm>
            <a:off x="11704321" y="6566897"/>
            <a:ext cx="5425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28/39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05E4F76-EF0C-27FA-38F0-58BD2A080C1D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855FC1-D175-0475-49CF-3D3869BE60C7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F1F0A7A-768D-DD86-60EE-6D8EE06775BC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390715-3A12-6074-E648-114F7FE73D36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40E58E0-63B0-D7AD-7E12-0A74533D5A48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48D151-724E-6E52-85A2-33EF169D6FAD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0F8050-B348-C827-398A-7BC52D1E3409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C01D39-4CCB-C890-A297-874BA5DF56BF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938604-70FF-D727-3719-E74F71C218DA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D2EB7B-05C9-B5C2-8B49-36C9DA6204A1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FD28CE-2045-FE4C-7B6F-3C7722234AD6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0B1392-570B-1F8F-235E-0D6CCA20F027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4CE152-B9E7-2B88-8CF5-3901B90442E0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40392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8116488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1"/>
            <a:ext cx="4062127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DDD257-C2A3-3417-D2AB-AF3DE946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643468"/>
            <a:ext cx="2944152" cy="1622744"/>
          </a:xfrm>
        </p:spPr>
        <p:txBody>
          <a:bodyPr anchor="b">
            <a:normAutofit/>
          </a:bodyPr>
          <a:lstStyle/>
          <a:p>
            <a:r>
              <a:rPr lang="fr-FR" sz="3600">
                <a:solidFill>
                  <a:schemeClr val="tx1"/>
                </a:solidFill>
              </a:rPr>
              <a:t>Other issues on small signals</a:t>
            </a:r>
            <a:endParaRPr lang="fr-CH" sz="3600">
              <a:solidFill>
                <a:schemeClr val="tx1"/>
              </a:solidFill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3F7D46C-FEF1-84DB-E1EF-E6FAEFFD5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99"/>
          <a:stretch/>
        </p:blipFill>
        <p:spPr>
          <a:xfrm>
            <a:off x="643468" y="2090651"/>
            <a:ext cx="6833412" cy="267669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213774-1020-2E37-9E8E-22E0FF665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599" y="2402733"/>
            <a:ext cx="2944151" cy="3774230"/>
          </a:xfrm>
        </p:spPr>
        <p:txBody>
          <a:bodyPr>
            <a:normAutofit/>
          </a:bodyPr>
          <a:lstStyle/>
          <a:p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Alphabet learning</a:t>
            </a:r>
          </a:p>
          <a:p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Respect of shapes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2B3B38-7E97-5043-9ECD-8202D82785A5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7" name="Image 6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9EABFDA6-D5CE-EE4A-A09C-95FEC20CC6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310226D-46C5-2411-899E-26CDFCD4084B}"/>
              </a:ext>
            </a:extLst>
          </p:cNvPr>
          <p:cNvSpPr txBox="1"/>
          <p:nvPr/>
        </p:nvSpPr>
        <p:spPr>
          <a:xfrm>
            <a:off x="11695177" y="6566897"/>
            <a:ext cx="5516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29/39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02AD9E1-2F71-F352-0B85-1E95FAD5FD77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8FA09C-88DD-1E66-8D41-92B28697A131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915A637-DDD9-2E0E-1C04-C22CFAFAC505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5C81019-5C8D-371D-4747-713136313EAF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1FF8965-DA6B-141A-6072-02FD6C9A3147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E4232-FA97-885E-EF7A-4E96F4091F8B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58EFAD-0696-7303-1214-AA71D40C5D4D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ED377A-D357-8808-6AD8-6EA4EAAEBDAE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3F2711-AC9C-1135-F15C-3471C0BC84C1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6CE71B-3E58-A59F-AA1C-ABD47259FC06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3E0F82-EA18-21C3-3EB3-0C136E74F88D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4CC3A6-3F12-26B6-8C85-633278903527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00ACBE-0F1B-AA04-4B0D-3BF3E725F73A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75033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8116488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1"/>
            <a:ext cx="4062127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82ABDC2-5BD7-E0A4-8432-FC41BB3A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643468"/>
            <a:ext cx="2944152" cy="1622744"/>
          </a:xfrm>
        </p:spPr>
        <p:txBody>
          <a:bodyPr anchor="b">
            <a:normAutofit/>
          </a:bodyPr>
          <a:lstStyle/>
          <a:p>
            <a:r>
              <a:rPr lang="fr-FR" sz="3600">
                <a:solidFill>
                  <a:schemeClr val="tx1"/>
                </a:solidFill>
              </a:rPr>
              <a:t>Large signals</a:t>
            </a:r>
            <a:endParaRPr lang="fr-CH" sz="3600">
              <a:solidFill>
                <a:schemeClr val="tx1"/>
              </a:solidFill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A5B91FB-A042-F4FE-203E-E129CB1BB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670009"/>
            <a:ext cx="6833412" cy="551797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54370E-10B6-86A4-99B9-E1AC05F9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599" y="2402733"/>
            <a:ext cx="2944151" cy="3774230"/>
          </a:xfrm>
        </p:spPr>
        <p:txBody>
          <a:bodyPr>
            <a:normAutofit/>
          </a:bodyPr>
          <a:lstStyle/>
          <a:p>
            <a:endParaRPr lang="en-US" sz="1600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1"/>
                  </a:gs>
                </a:gsLst>
                <a:lin ang="4800000" scaled="0"/>
              </a:gradFill>
            </a:endParaRPr>
          </a:p>
          <a:p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Scribbles</a:t>
            </a:r>
          </a:p>
          <a:p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Overall Shapes / Bounding boxes</a:t>
            </a:r>
          </a:p>
          <a:p>
            <a:r>
              <a:rPr lang="en-US" sz="16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Getting lost</a:t>
            </a:r>
          </a:p>
          <a:p>
            <a:pPr lvl="1"/>
            <a:r>
              <a:rPr lang="en-US" sz="12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Start, end of word</a:t>
            </a:r>
          </a:p>
          <a:p>
            <a:pPr lvl="1"/>
            <a:r>
              <a:rPr lang="en-US" sz="1200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1"/>
                    </a:gs>
                  </a:gsLst>
                  <a:lin ang="4800000" scaled="0"/>
                </a:gradFill>
              </a:rPr>
              <a:t>Context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E24F6DB-9AAA-C0CB-7C14-4C3DBBCE272D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7" name="Image 6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DD0D2E02-F51B-809A-BD5C-12992BA5C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B9115C4-0F1E-42C2-A830-A42C48E4ABCD}"/>
              </a:ext>
            </a:extLst>
          </p:cNvPr>
          <p:cNvSpPr txBox="1"/>
          <p:nvPr/>
        </p:nvSpPr>
        <p:spPr>
          <a:xfrm>
            <a:off x="11667745" y="6566897"/>
            <a:ext cx="5791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30/39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A85E389-BB24-C180-29AA-11950138F179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6FFED3-9C0D-50C8-286F-979176DE095A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C23D320-4C8C-2654-B210-A9D2133E1CE9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99ADE95-90D4-5D0A-502D-F47711BD85C2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7DE2DEE-3104-6A1C-4233-2B8D1186A23C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437171-F106-F09A-D660-3B2D6FFFE422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17CEC-0610-57DC-61A2-BB048FB3E08F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12930E-CE70-BA86-28BD-072DF6152E65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2B49B6-F7F3-8547-8E07-2B195B6BEE3F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D0CDC1-7919-4CBA-2520-0135FA2ACBFC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4EE69C-E433-19A5-8A3D-BC149BA73638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78661D-CF70-04F5-B88C-15015C8FFDA3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A7DBAB-066D-4D3D-650E-A721607209D4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9865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164E5A-ABC0-4A97-86CA-5F7C2661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" y="0"/>
            <a:ext cx="8116488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innerShdw blurRad="139700" dist="508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393E8D-D10F-4FE1-AC21-8B44BEB5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1"/>
            <a:ext cx="4062127" cy="6857996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DB91C8-5F17-1C4E-A480-D1E4101DA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643468"/>
            <a:ext cx="2944152" cy="645836"/>
          </a:xfrm>
        </p:spPr>
        <p:txBody>
          <a:bodyPr anchor="b">
            <a:normAutofit/>
          </a:bodyPr>
          <a:lstStyle/>
          <a:p>
            <a:r>
              <a:rPr lang="fr-FR" sz="3600" dirty="0">
                <a:solidFill>
                  <a:schemeClr val="tx1"/>
                </a:solidFill>
              </a:rPr>
              <a:t>LLM</a:t>
            </a:r>
            <a:endParaRPr lang="fr-CH" sz="3600" dirty="0">
              <a:solidFill>
                <a:schemeClr val="tx1"/>
              </a:solidFill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5FF2519-153B-42B2-EA8D-E302F8116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1959815"/>
            <a:ext cx="6833412" cy="293836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30802E6-989D-5196-DCBF-73FECBC476E8}"/>
              </a:ext>
            </a:extLst>
          </p:cNvPr>
          <p:cNvSpPr txBox="1"/>
          <p:nvPr/>
        </p:nvSpPr>
        <p:spPr>
          <a:xfrm>
            <a:off x="654922" y="4898182"/>
            <a:ext cx="683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Ceci n’est pas un LLM</a:t>
            </a:r>
            <a:endParaRPr lang="fr-CH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F7F9FA8-98EF-D8D6-AB54-439A24237C0C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8" name="Image 7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C29618A1-85C6-2839-4CF2-53E549518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DD74B00-F9E1-3B74-12C6-4E7BBAA0244C}"/>
              </a:ext>
            </a:extLst>
          </p:cNvPr>
          <p:cNvSpPr txBox="1"/>
          <p:nvPr/>
        </p:nvSpPr>
        <p:spPr>
          <a:xfrm>
            <a:off x="11676889" y="6566897"/>
            <a:ext cx="56997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31/39</a:t>
            </a:r>
            <a:endParaRPr lang="fr-CH" sz="105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84FA1CE-5D6B-A874-B9A9-C894500B411C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27747B-6875-AD68-0CE8-95B330CFD75D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ABA8322-88C1-08E3-AB63-8FE47C9A2ABD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992D031-EDC7-10D8-6CEB-4E9E3342942F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DC91E92-E284-88E6-B4B8-1EA0AE0B7EA9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72DC9-E45B-B65F-CD3C-8D7A1EF3183D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16C471-61CF-F8E5-281B-F4B16794F911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74883-C19E-4065-B8B1-4A30809738FD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2B4766-DD6D-24DC-E02A-D82C0BB3D11F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96726A-368A-A908-5077-EA75F5D9E0E9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1E6E9-A34C-8634-092F-2F23A5D09FA9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4D437-790C-0C8C-84F0-31B7D7B46868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EFA2B2-F4F7-AE97-1010-7CFA0FE0A610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02249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77C07B-94D6-E96E-88EF-F1590F63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245" y="347373"/>
            <a:ext cx="4027945" cy="927126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pPr algn="ctr"/>
            <a:r>
              <a:rPr lang="en-US" sz="7200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Demo</a:t>
            </a:r>
          </a:p>
        </p:txBody>
      </p:sp>
      <p:pic>
        <p:nvPicPr>
          <p:cNvPr id="7" name="Graphic 6" descr="Jouer">
            <a:extLst>
              <a:ext uri="{FF2B5EF4-FFF2-40B4-BE49-F238E27FC236}">
                <a16:creationId xmlns:a16="http://schemas.microsoft.com/office/drawing/2014/main" id="{984B9274-55BA-1CF3-8E6A-52CE7969F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2864" y="810936"/>
            <a:ext cx="4608576" cy="460857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A862DC2-3B76-E95D-5F09-44031207D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247" y="1590151"/>
            <a:ext cx="4027944" cy="305014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58EC2FE-62A3-E3E9-FE93-67A86B1C778F}"/>
              </a:ext>
            </a:extLst>
          </p:cNvPr>
          <p:cNvSpPr txBox="1"/>
          <p:nvPr/>
        </p:nvSpPr>
        <p:spPr>
          <a:xfrm>
            <a:off x="2979246" y="4885790"/>
            <a:ext cx="4027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Medium </a:t>
            </a:r>
            <a:r>
              <a:rPr lang="fr-FR" dirty="0" err="1"/>
              <a:t>Dataset</a:t>
            </a:r>
            <a:endParaRPr lang="fr-FR" dirty="0"/>
          </a:p>
          <a:p>
            <a:pPr algn="ctr"/>
            <a:r>
              <a:rPr lang="fr-FR" dirty="0"/>
              <a:t>4M Data points</a:t>
            </a:r>
          </a:p>
          <a:p>
            <a:pPr algn="ctr"/>
            <a:r>
              <a:rPr lang="fr-FR" dirty="0"/>
              <a:t>20 </a:t>
            </a:r>
            <a:r>
              <a:rPr lang="fr-FR" dirty="0" err="1"/>
              <a:t>epochs</a:t>
            </a:r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D9F4E5-C32A-80D4-31A0-2308D862191D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8" name="Image 7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17F186C4-B8DD-2E8C-3B5E-BB7F91835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A01A40E-E0F2-07A4-7861-90F78382A4CE}"/>
              </a:ext>
            </a:extLst>
          </p:cNvPr>
          <p:cNvSpPr txBox="1"/>
          <p:nvPr/>
        </p:nvSpPr>
        <p:spPr>
          <a:xfrm>
            <a:off x="11731753" y="6566897"/>
            <a:ext cx="515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32/39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6B9AAB-43FF-929B-9E12-707C482A2717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D55B31-6C0E-92CB-5686-C619A32BE556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B194437-248C-3DF9-5C18-A0686D3C2BD7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5D5F25A-DFD4-C180-8639-C057ACC5AEFC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C0925EE-092C-1986-03F1-0551DBABA8B5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EFC88B-9194-093C-12F0-5D7AD0CA51A1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085156-3552-94E3-2A24-D94FF357CE68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F6103A-D8D3-D8C8-D808-DF8507808B46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1B6964-3314-34AC-69F2-2D8C565D71AB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0AF44F-1EEA-0A4E-5DC4-9735E2BAA37F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509BAF-0E59-0B92-B32A-3787423D2BC6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5A2993-079D-5751-E12E-18A8EB98243B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DB672D-2566-E1C0-FEEB-42261950858A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5576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F1754A-820C-7E8B-0FA2-9FDD2FE2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628" y="365125"/>
            <a:ext cx="6651171" cy="1325563"/>
          </a:xfrm>
        </p:spPr>
        <p:txBody>
          <a:bodyPr>
            <a:normAutofit/>
          </a:bodyPr>
          <a:lstStyle/>
          <a:p>
            <a:r>
              <a:rPr lang="fr-FR" dirty="0"/>
              <a:t>Future Works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6912B4-7E4A-922D-6FF8-68129CA38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480" y="1825625"/>
            <a:ext cx="6487886" cy="4351338"/>
          </a:xfrm>
        </p:spPr>
        <p:txBody>
          <a:bodyPr>
            <a:normAutofit/>
          </a:bodyPr>
          <a:lstStyle/>
          <a:p>
            <a:r>
              <a:rPr lang="fr-FR" dirty="0"/>
              <a:t>Relative Speeds / </a:t>
            </a:r>
            <a:r>
              <a:rPr lang="fr-FR" dirty="0" err="1"/>
              <a:t>movements</a:t>
            </a:r>
            <a:endParaRPr lang="fr-FR" dirty="0"/>
          </a:p>
          <a:p>
            <a:r>
              <a:rPr lang="fr-FR" dirty="0"/>
              <a:t>More hardware, more </a:t>
            </a:r>
            <a:r>
              <a:rPr lang="fr-FR" dirty="0" err="1"/>
              <a:t>datasets</a:t>
            </a:r>
            <a:r>
              <a:rPr lang="fr-FR" dirty="0"/>
              <a:t>, more training</a:t>
            </a:r>
          </a:p>
          <a:p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evaluation</a:t>
            </a:r>
            <a:r>
              <a:rPr lang="fr-FR" dirty="0"/>
              <a:t> </a:t>
            </a:r>
            <a:r>
              <a:rPr lang="fr-FR" dirty="0" err="1"/>
              <a:t>Metrics</a:t>
            </a:r>
            <a:endParaRPr lang="fr-FR" dirty="0"/>
          </a:p>
          <a:p>
            <a:r>
              <a:rPr lang="fr-FR" dirty="0" err="1"/>
              <a:t>Improve</a:t>
            </a:r>
            <a:r>
              <a:rPr lang="fr-FR" dirty="0"/>
              <a:t> Stop </a:t>
            </a:r>
            <a:r>
              <a:rPr lang="fr-FR" dirty="0" err="1"/>
              <a:t>predictions</a:t>
            </a:r>
            <a:endParaRPr lang="fr-FR" dirty="0"/>
          </a:p>
          <a:p>
            <a:r>
              <a:rPr lang="fr-FR" dirty="0" err="1"/>
              <a:t>Knowledge</a:t>
            </a:r>
            <a:r>
              <a:rPr lang="fr-FR" dirty="0"/>
              <a:t> Transfer</a:t>
            </a:r>
          </a:p>
          <a:p>
            <a:pPr lvl="1"/>
            <a:r>
              <a:rPr lang="fr-CH" dirty="0" err="1"/>
              <a:t>Other</a:t>
            </a:r>
            <a:r>
              <a:rPr lang="fr-CH" dirty="0"/>
              <a:t> </a:t>
            </a:r>
            <a:r>
              <a:rPr lang="fr-CH" dirty="0" err="1"/>
              <a:t>ductus</a:t>
            </a:r>
            <a:endParaRPr lang="fr-CH" dirty="0"/>
          </a:p>
          <a:p>
            <a:pPr lvl="1"/>
            <a:r>
              <a:rPr lang="fr-CH" dirty="0"/>
              <a:t>Fine-Tuning for </a:t>
            </a:r>
            <a:r>
              <a:rPr lang="fr-CH" dirty="0" err="1"/>
              <a:t>tasks</a:t>
            </a:r>
            <a:endParaRPr lang="fr-CH" dirty="0"/>
          </a:p>
          <a:p>
            <a:r>
              <a:rPr lang="fr-CH" dirty="0"/>
              <a:t>Set, Sort! </a:t>
            </a:r>
            <a:r>
              <a:rPr lang="fr-CH" dirty="0" err="1"/>
              <a:t>Assembly</a:t>
            </a:r>
            <a:endParaRPr lang="fr-CH" dirty="0"/>
          </a:p>
        </p:txBody>
      </p:sp>
      <p:pic>
        <p:nvPicPr>
          <p:cNvPr id="5" name="Picture 4" descr="Modèle 3D de formes en anneau connecté par des lignes">
            <a:extLst>
              <a:ext uri="{FF2B5EF4-FFF2-40B4-BE49-F238E27FC236}">
                <a16:creationId xmlns:a16="http://schemas.microsoft.com/office/drawing/2014/main" id="{C691E9DA-BFCA-CD70-7C83-7EBCE0416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26" r="48549"/>
          <a:stretch/>
        </p:blipFill>
        <p:spPr>
          <a:xfrm>
            <a:off x="20" y="10"/>
            <a:ext cx="4343380" cy="685799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F28BA45-0A8E-0327-0C38-4AD07C5A5F51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6" name="Image 5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CB41D712-60FC-3AAF-0779-CA75BB6CB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3B735FA-AD6C-1DED-D634-13AAE230C16F}"/>
              </a:ext>
            </a:extLst>
          </p:cNvPr>
          <p:cNvSpPr txBox="1"/>
          <p:nvPr/>
        </p:nvSpPr>
        <p:spPr>
          <a:xfrm>
            <a:off x="11704321" y="6566897"/>
            <a:ext cx="5425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33/39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9516F3-F4D0-715D-2D24-CC49E3CF2341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88D03-C045-3FD1-6A1E-FAA68051BAC8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F319F5C-671D-817B-2841-C822E52D6D90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EB65EAC-6AAA-CA81-5402-732B95BCDD13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6394910-BB9D-C0BC-72C2-383573AE2FF0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0E1055-BD8B-631D-FCD0-9145356A3082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A3524E-8ED9-E7F9-1775-B0A5A14EB007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02B52E-9426-8AE8-857E-4DBF7B66C30A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CAAE24-7C96-73E3-27BB-EB1DDF082B77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F40238-CC72-D72D-33D0-7759F632B28E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B7B56B-8708-3CB5-7870-6FC4E6F88A3B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8E8A3B-4233-820B-B95D-4E3044FAB605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E30677-8E6B-C2B4-9EC6-D065CC6D7B31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69677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A791-D665-AD7E-6F13-BF59768D1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E640EB-48D2-3950-D518-21B46DF5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fr-FR" sz="4000" dirty="0">
                <a:solidFill>
                  <a:schemeClr val="tx1">
                    <a:lumMod val="95000"/>
                  </a:schemeClr>
                </a:solidFill>
              </a:rPr>
              <a:t>Return  on Objectives</a:t>
            </a:r>
            <a:endParaRPr lang="fr-CH" sz="40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6B6F295-CF6F-8B6D-3152-6F9152416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543" y="1115786"/>
            <a:ext cx="5208161" cy="4626428"/>
          </a:xfrm>
        </p:spPr>
        <p:txBody>
          <a:bodyPr anchor="ctr">
            <a:normAutofit/>
          </a:bodyPr>
          <a:lstStyle/>
          <a:p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Create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Online signal </a:t>
            </a:r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from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Offline data</a:t>
            </a:r>
          </a:p>
          <a:p>
            <a:pPr marL="0" indent="0">
              <a:buNone/>
            </a:pP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Promising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results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on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extracting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[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x,y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]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coordinate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vector</a:t>
            </a:r>
            <a:endParaRPr lang="fr-FR" sz="2000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fr-FR" sz="20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Use a Transformer-</a:t>
            </a:r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based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architecture</a:t>
            </a:r>
          </a:p>
          <a:p>
            <a:pPr lvl="1"/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Tests on LSTM: Transformer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is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sufficient</a:t>
            </a:r>
            <a:endParaRPr lang="fr-FR" sz="2000" dirty="0">
              <a:solidFill>
                <a:schemeClr val="tx1">
                  <a:lumMod val="95000"/>
                </a:schemeClr>
              </a:solidFill>
            </a:endParaRPr>
          </a:p>
          <a:p>
            <a:endParaRPr lang="fr-FR" sz="20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Investigate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the </a:t>
            </a:r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inference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capacities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over </a:t>
            </a:r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handwriting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Speed / </a:t>
            </a:r>
            <a:r>
              <a:rPr lang="fr-FR" sz="1600" i="1" dirty="0" err="1">
                <a:solidFill>
                  <a:schemeClr val="tx1">
                    <a:lumMod val="95000"/>
                  </a:schemeClr>
                </a:solidFill>
              </a:rPr>
              <a:t>Trajectories</a:t>
            </a:r>
            <a:r>
              <a:rPr lang="fr-FR" sz="1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  <a:p>
            <a:pPr lvl="1"/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Good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Results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on signal of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limited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length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some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limitations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might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be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due to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absolute</a:t>
            </a:r>
            <a:r>
              <a:rPr lang="fr-FR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95000"/>
                  </a:schemeClr>
                </a:solidFill>
              </a:rPr>
              <a:t>references</a:t>
            </a:r>
            <a:endParaRPr lang="fr-FR" sz="20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EE0D4D1-6BFC-A090-E1F6-AA580B1C90E5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4" name="Image 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3F70AACB-C80F-46C2-5C10-EEEC2C26A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FDC780C-4B45-D1F6-9EA8-0DD6E4701B0E}"/>
              </a:ext>
            </a:extLst>
          </p:cNvPr>
          <p:cNvSpPr txBox="1"/>
          <p:nvPr/>
        </p:nvSpPr>
        <p:spPr>
          <a:xfrm>
            <a:off x="11750041" y="6566897"/>
            <a:ext cx="4968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34/39</a:t>
            </a:r>
            <a:endParaRPr lang="fr-CH" sz="105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4F5C6F-FA3E-E35A-1C25-C43F9DC981B4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87BFC5-ADB8-5570-EB0D-1395E409D435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5C41E0D-D8F0-04F3-B730-FEB2E2F1F4A4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7EFDAE0-A14A-94EC-4830-86D6B2870F51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9302678-8ACD-B70D-7CF6-87551585F196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CAB156-4F64-3458-0399-BBCD0C580C2F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BA2B24-099B-910D-3ABA-6C1E502F1800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A117A4-528A-3F3C-98E8-84493C678B42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8D88CD-59C7-998E-1315-CEE322FBAEDF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0340C6-AF44-E2BC-28A3-F0EF1923B369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BE3C29-5FE2-6C19-839A-BC82E2E95E17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E033D-B834-0E92-6910-4356B44C17EA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563063-934F-0AB1-6950-F36AF542E674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506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1417F-FA4F-3A6D-01CA-130D9CA5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8C680E-015E-9845-377F-4BD985DC7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6084"/>
            <a:ext cx="8671560" cy="2965831"/>
          </a:xfrm>
        </p:spPr>
        <p:txBody>
          <a:bodyPr>
            <a:normAutofit fontScale="92500" lnSpcReduction="20000"/>
          </a:bodyPr>
          <a:lstStyle/>
          <a:p>
            <a:r>
              <a:rPr lang="fr-FR" dirty="0" err="1"/>
              <a:t>Satisfying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 on </a:t>
            </a:r>
            <a:r>
              <a:rPr lang="fr-FR" dirty="0" err="1"/>
              <a:t>x,y</a:t>
            </a:r>
            <a:r>
              <a:rPr lang="fr-FR" dirty="0"/>
              <a:t> </a:t>
            </a:r>
            <a:r>
              <a:rPr lang="fr-FR" dirty="0" err="1"/>
              <a:t>coordinates</a:t>
            </a:r>
            <a:endParaRPr lang="fr-FR" dirty="0"/>
          </a:p>
          <a:p>
            <a:r>
              <a:rPr lang="fr-FR" dirty="0"/>
              <a:t>Learning </a:t>
            </a:r>
            <a:r>
              <a:rPr lang="fr-FR" dirty="0" err="1"/>
              <a:t>character-based</a:t>
            </a:r>
            <a:r>
              <a:rPr lang="fr-FR" dirty="0"/>
              <a:t> </a:t>
            </a:r>
            <a:r>
              <a:rPr lang="fr-FR" dirty="0" err="1"/>
              <a:t>ductus</a:t>
            </a:r>
            <a:endParaRPr lang="fr-FR" dirty="0"/>
          </a:p>
          <a:p>
            <a:r>
              <a:rPr lang="fr-FR" dirty="0"/>
              <a:t>Hard to </a:t>
            </a:r>
            <a:r>
              <a:rPr lang="fr-FR" dirty="0" err="1"/>
              <a:t>generalize</a:t>
            </a:r>
            <a:r>
              <a:rPr lang="fr-FR" dirty="0"/>
              <a:t> to large </a:t>
            </a:r>
            <a:r>
              <a:rPr lang="fr-FR" dirty="0" err="1"/>
              <a:t>signals</a:t>
            </a:r>
            <a:endParaRPr lang="fr-FR" dirty="0"/>
          </a:p>
          <a:p>
            <a:r>
              <a:rPr lang="fr-FR" dirty="0"/>
              <a:t>Hard to </a:t>
            </a:r>
            <a:r>
              <a:rPr lang="fr-FR" dirty="0" err="1"/>
              <a:t>find</a:t>
            </a:r>
            <a:r>
              <a:rPr lang="fr-FR" dirty="0"/>
              <a:t> good signal </a:t>
            </a:r>
            <a:r>
              <a:rPr lang="fr-FR" dirty="0" err="1"/>
              <a:t>evaluation</a:t>
            </a:r>
            <a:endParaRPr lang="fr-FR" dirty="0"/>
          </a:p>
          <a:p>
            <a:r>
              <a:rPr lang="fr-FR" dirty="0"/>
              <a:t>Limited hardware for </a:t>
            </a:r>
            <a:r>
              <a:rPr lang="fr-FR" dirty="0" err="1"/>
              <a:t>transformers</a:t>
            </a:r>
            <a:r>
              <a:rPr lang="fr-FR" dirty="0"/>
              <a:t>,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greedy</a:t>
            </a:r>
            <a:r>
              <a:rPr lang="fr-FR" dirty="0"/>
              <a:t> on data</a:t>
            </a:r>
          </a:p>
          <a:p>
            <a:endParaRPr lang="fr-FR" dirty="0"/>
          </a:p>
          <a:p>
            <a:r>
              <a:rPr lang="fr-FR" dirty="0"/>
              <a:t>First brick of the road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AF46DC-399C-25B3-4FE2-788FDB77B1FD}"/>
              </a:ext>
            </a:extLst>
          </p:cNvPr>
          <p:cNvSpPr txBox="1"/>
          <p:nvPr/>
        </p:nvSpPr>
        <p:spPr>
          <a:xfrm>
            <a:off x="838200" y="5279428"/>
            <a:ext cx="891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/>
              <a:t> </a:t>
            </a:r>
            <a:r>
              <a:rPr lang="fr-CH" i="1" dirty="0"/>
              <a:t>«A transformer model </a:t>
            </a:r>
            <a:r>
              <a:rPr lang="fr-CH" i="1" dirty="0" err="1"/>
              <a:t>is</a:t>
            </a:r>
            <a:r>
              <a:rPr lang="fr-CH" i="1" dirty="0"/>
              <a:t> capable of </a:t>
            </a:r>
            <a:r>
              <a:rPr lang="fr-CH" i="1" dirty="0" err="1"/>
              <a:t>predicting</a:t>
            </a:r>
            <a:r>
              <a:rPr lang="fr-CH" i="1" dirty="0"/>
              <a:t> the </a:t>
            </a:r>
            <a:r>
              <a:rPr lang="fr-CH" i="1" dirty="0" err="1"/>
              <a:t>pen</a:t>
            </a:r>
            <a:r>
              <a:rPr lang="fr-CH" i="1" dirty="0"/>
              <a:t> </a:t>
            </a:r>
            <a:r>
              <a:rPr lang="fr-CH" i="1" dirty="0" err="1"/>
              <a:t>kinematics</a:t>
            </a:r>
            <a:r>
              <a:rPr lang="fr-CH" i="1" dirty="0"/>
              <a:t> </a:t>
            </a:r>
            <a:r>
              <a:rPr lang="fr-CH" i="1" dirty="0" err="1"/>
              <a:t>from</a:t>
            </a:r>
            <a:r>
              <a:rPr lang="fr-CH" i="1" dirty="0"/>
              <a:t> offline images on the English </a:t>
            </a:r>
            <a:r>
              <a:rPr lang="fr-CH" i="1" dirty="0" err="1"/>
              <a:t>language</a:t>
            </a:r>
            <a:r>
              <a:rPr lang="fr-CH" i="1" dirty="0"/>
              <a:t>, </a:t>
            </a:r>
            <a:r>
              <a:rPr lang="fr-CH" i="1" dirty="0" err="1"/>
              <a:t>with</a:t>
            </a:r>
            <a:r>
              <a:rPr lang="fr-CH" i="1" dirty="0"/>
              <a:t> a </a:t>
            </a:r>
            <a:r>
              <a:rPr lang="fr-CH" i="1" dirty="0" err="1"/>
              <a:t>sufficient</a:t>
            </a:r>
            <a:r>
              <a:rPr lang="fr-CH" i="1" dirty="0"/>
              <a:t> </a:t>
            </a:r>
            <a:r>
              <a:rPr lang="fr-CH" i="1" dirty="0" err="1"/>
              <a:t>dataset</a:t>
            </a:r>
            <a:r>
              <a:rPr lang="fr-CH" i="1" dirty="0"/>
              <a:t> and on a </a:t>
            </a:r>
            <a:r>
              <a:rPr lang="fr-CH" i="1" dirty="0" err="1"/>
              <a:t>restricted</a:t>
            </a:r>
            <a:r>
              <a:rPr lang="fr-CH" i="1" dirty="0"/>
              <a:t> alphabet of </a:t>
            </a:r>
            <a:r>
              <a:rPr lang="fr-CH" i="1" dirty="0" err="1"/>
              <a:t>symbols</a:t>
            </a:r>
            <a:r>
              <a:rPr lang="fr-CH" i="1" dirty="0"/>
              <a:t>.»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5D80DD2-CDF7-4220-63E0-5F8957F80D53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7" name="Image 6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FDEADB5F-0CDF-4B38-F61B-3FA54CF0E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0D241F8-9D3A-FFDD-CC10-6F53B7B7E25C}"/>
              </a:ext>
            </a:extLst>
          </p:cNvPr>
          <p:cNvSpPr txBox="1"/>
          <p:nvPr/>
        </p:nvSpPr>
        <p:spPr>
          <a:xfrm>
            <a:off x="11722609" y="6566897"/>
            <a:ext cx="52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35/39</a:t>
            </a:r>
            <a:endParaRPr lang="fr-CH" sz="105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0CD25A8-36A1-2561-1B02-E50EE715B371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6A9EFB-5B4B-9087-FF69-09F6C4CF8713}"/>
              </a:ext>
            </a:extLst>
          </p:cNvPr>
          <p:cNvSpPr/>
          <p:nvPr/>
        </p:nvSpPr>
        <p:spPr>
          <a:xfrm>
            <a:off x="1130736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BDD331A-F4B9-7B1F-2E76-0969C112BE77}"/>
              </a:ext>
            </a:extLst>
          </p:cNvPr>
          <p:cNvSpPr/>
          <p:nvPr/>
        </p:nvSpPr>
        <p:spPr>
          <a:xfrm>
            <a:off x="10901572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BFE2B1C-DDD7-E861-3DEA-51640160678D}"/>
              </a:ext>
            </a:extLst>
          </p:cNvPr>
          <p:cNvSpPr/>
          <p:nvPr/>
        </p:nvSpPr>
        <p:spPr>
          <a:xfrm>
            <a:off x="11170704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8436CD8-B561-195F-9BD1-785E3C97C0B3}"/>
              </a:ext>
            </a:extLst>
          </p:cNvPr>
          <p:cNvSpPr/>
          <p:nvPr/>
        </p:nvSpPr>
        <p:spPr>
          <a:xfrm>
            <a:off x="11036138" y="149949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625930-B867-C4F9-7774-95EEFD875F29}"/>
              </a:ext>
            </a:extLst>
          </p:cNvPr>
          <p:cNvSpPr/>
          <p:nvPr/>
        </p:nvSpPr>
        <p:spPr>
          <a:xfrm>
            <a:off x="1140106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C5E26E-600A-9117-A63B-254BE6EA377A}"/>
              </a:ext>
            </a:extLst>
          </p:cNvPr>
          <p:cNvSpPr/>
          <p:nvPr/>
        </p:nvSpPr>
        <p:spPr>
          <a:xfrm>
            <a:off x="1149477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D0A16B-A46B-39B2-0730-F4AD3E705A66}"/>
              </a:ext>
            </a:extLst>
          </p:cNvPr>
          <p:cNvSpPr/>
          <p:nvPr/>
        </p:nvSpPr>
        <p:spPr>
          <a:xfrm>
            <a:off x="1158848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387DB5-A621-2870-FD5E-E15C1EB4E5AF}"/>
              </a:ext>
            </a:extLst>
          </p:cNvPr>
          <p:cNvSpPr/>
          <p:nvPr/>
        </p:nvSpPr>
        <p:spPr>
          <a:xfrm>
            <a:off x="11682192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6FAA6B-9D30-A09E-CB64-E114E9FBC66A}"/>
              </a:ext>
            </a:extLst>
          </p:cNvPr>
          <p:cNvSpPr/>
          <p:nvPr/>
        </p:nvSpPr>
        <p:spPr>
          <a:xfrm>
            <a:off x="11779044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9EE9E4-341D-B155-5C07-4922774ADB97}"/>
              </a:ext>
            </a:extLst>
          </p:cNvPr>
          <p:cNvSpPr/>
          <p:nvPr/>
        </p:nvSpPr>
        <p:spPr>
          <a:xfrm>
            <a:off x="11875896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A5112-3D91-76E5-C3B5-4ABE7FC0F019}"/>
              </a:ext>
            </a:extLst>
          </p:cNvPr>
          <p:cNvSpPr/>
          <p:nvPr/>
        </p:nvSpPr>
        <p:spPr>
          <a:xfrm>
            <a:off x="11972748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63A987-9C1C-2EB7-75AD-CFF78FA9787A}"/>
              </a:ext>
            </a:extLst>
          </p:cNvPr>
          <p:cNvSpPr/>
          <p:nvPr/>
        </p:nvSpPr>
        <p:spPr>
          <a:xfrm>
            <a:off x="12069600" y="149949"/>
            <a:ext cx="7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67226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EB9DD5-9F64-0352-4E55-2B823B700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598546"/>
            <a:ext cx="5806440" cy="2506972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r"/>
            <a:r>
              <a:rPr lang="en-US" sz="7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Questions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3B2B2163-D250-4317-CADE-E0F78B10E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2864" y="810936"/>
            <a:ext cx="4608576" cy="460857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CB502A3-0D43-B4A8-EB80-197E34B6096C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8" name="Image 7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103DEA2D-DDB9-87AF-822C-227C4E5C8B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26C3160-854F-E1CA-29E4-DA7ACDED82CF}"/>
              </a:ext>
            </a:extLst>
          </p:cNvPr>
          <p:cNvSpPr txBox="1"/>
          <p:nvPr/>
        </p:nvSpPr>
        <p:spPr>
          <a:xfrm>
            <a:off x="11722609" y="6566897"/>
            <a:ext cx="52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36/39</a:t>
            </a:r>
            <a:endParaRPr lang="fr-CH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DF4232D-DCD8-BBE7-74FC-D224F5F1BD23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</p:spTree>
    <p:extLst>
      <p:ext uri="{BB962C8B-B14F-4D97-AF65-F5344CB8AC3E}">
        <p14:creationId xmlns:p14="http://schemas.microsoft.com/office/powerpoint/2010/main" val="2429935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B3D584-20CE-45A2-9AF2-5CFC7DD6F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5980 w 12192000"/>
              <a:gd name="connsiteY0" fmla="*/ 643467 h 6858000"/>
              <a:gd name="connsiteX1" fmla="*/ 810509 w 12192000"/>
              <a:gd name="connsiteY1" fmla="*/ 748938 h 6858000"/>
              <a:gd name="connsiteX2" fmla="*/ 810509 w 12192000"/>
              <a:gd name="connsiteY2" fmla="*/ 5738739 h 6858000"/>
              <a:gd name="connsiteX3" fmla="*/ 915980 w 12192000"/>
              <a:gd name="connsiteY3" fmla="*/ 5844210 h 6858000"/>
              <a:gd name="connsiteX4" fmla="*/ 11269845 w 12192000"/>
              <a:gd name="connsiteY4" fmla="*/ 5844210 h 6858000"/>
              <a:gd name="connsiteX5" fmla="*/ 11375316 w 12192000"/>
              <a:gd name="connsiteY5" fmla="*/ 5738739 h 6858000"/>
              <a:gd name="connsiteX6" fmla="*/ 11375316 w 12192000"/>
              <a:gd name="connsiteY6" fmla="*/ 748938 h 6858000"/>
              <a:gd name="connsiteX7" fmla="*/ 11269845 w 12192000"/>
              <a:gd name="connsiteY7" fmla="*/ 643467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915980" y="643467"/>
                </a:moveTo>
                <a:cubicBezTo>
                  <a:pt x="857730" y="643467"/>
                  <a:pt x="810509" y="690688"/>
                  <a:pt x="810509" y="748938"/>
                </a:cubicBezTo>
                <a:lnTo>
                  <a:pt x="810509" y="5738739"/>
                </a:lnTo>
                <a:cubicBezTo>
                  <a:pt x="810509" y="5796989"/>
                  <a:pt x="857730" y="5844210"/>
                  <a:pt x="915980" y="5844210"/>
                </a:cubicBezTo>
                <a:lnTo>
                  <a:pt x="11269845" y="5844210"/>
                </a:lnTo>
                <a:cubicBezTo>
                  <a:pt x="11328095" y="5844210"/>
                  <a:pt x="11375316" y="5796989"/>
                  <a:pt x="11375316" y="5738739"/>
                </a:cubicBezTo>
                <a:lnTo>
                  <a:pt x="11375316" y="748938"/>
                </a:lnTo>
                <a:cubicBezTo>
                  <a:pt x="11375316" y="690688"/>
                  <a:pt x="11328095" y="643467"/>
                  <a:pt x="11269845" y="64346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9E6594B-D6AC-D7D9-3137-A0EF8E68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84945"/>
            <a:ext cx="9144000" cy="1838766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US" spc="-30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Additional slides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B5BCCE-687A-4BBC-9E35-559C03CAD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38642" y="2882077"/>
            <a:ext cx="514717" cy="0"/>
          </a:xfrm>
          <a:prstGeom prst="line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04247D94-65EC-4C34-A6D2-158A42FA0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509" y="5913433"/>
            <a:ext cx="10564807" cy="579695"/>
          </a:xfrm>
          <a:prstGeom prst="roundRect">
            <a:avLst>
              <a:gd name="adj" fmla="val 27721"/>
            </a:avLst>
          </a:prstGeom>
          <a:gradFill>
            <a:gsLst>
              <a:gs pos="0">
                <a:srgbClr val="1D6987">
                  <a:alpha val="3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0"/>
          </a:gradFill>
          <a:ln w="635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5B5D2DE-E37C-53FF-D818-B0203E8D94A4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Maxime Geminiani Welcklen</a:t>
            </a:r>
            <a:endParaRPr lang="fr-CH" sz="1000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9CF98047-55DE-B0AE-0524-411C4B00A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85F208E-91F7-6687-1AF5-36A16F0271C5}"/>
              </a:ext>
            </a:extLst>
          </p:cNvPr>
          <p:cNvSpPr txBox="1"/>
          <p:nvPr/>
        </p:nvSpPr>
        <p:spPr>
          <a:xfrm>
            <a:off x="11713465" y="6566897"/>
            <a:ext cx="5334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</a:rPr>
              <a:t>37/39</a:t>
            </a:r>
            <a:endParaRPr lang="fr-CH" sz="105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1389C5B-717A-9CF8-29A7-C29C68D7C6F1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Master </a:t>
            </a:r>
            <a:r>
              <a:rPr lang="fr-FR" sz="1000" dirty="0" err="1">
                <a:solidFill>
                  <a:schemeClr val="bg1"/>
                </a:solidFill>
              </a:rPr>
              <a:t>Thesis</a:t>
            </a:r>
            <a:r>
              <a:rPr lang="fr-FR" sz="1000" dirty="0">
                <a:solidFill>
                  <a:schemeClr val="bg1"/>
                </a:solidFill>
              </a:rPr>
              <a:t> </a:t>
            </a:r>
            <a:r>
              <a:rPr lang="fr-FR" sz="1000" dirty="0" err="1">
                <a:solidFill>
                  <a:schemeClr val="bg1"/>
                </a:solidFill>
              </a:rPr>
              <a:t>Defense</a:t>
            </a:r>
            <a:endParaRPr lang="fr-CH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5433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EAC37-DA22-A940-0A6D-CA799CF1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– </a:t>
            </a:r>
            <a:r>
              <a:rPr lang="fr-FR" dirty="0" err="1"/>
              <a:t>Detailed</a:t>
            </a:r>
            <a:r>
              <a:rPr lang="fr-FR" dirty="0"/>
              <a:t> UNIPEN</a:t>
            </a:r>
            <a:endParaRPr lang="fr-CH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CF3F379-4124-9465-3E78-560EC8331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733" y="1504721"/>
            <a:ext cx="7836531" cy="2840639"/>
          </a:xfr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9DC6227-D7F5-BC69-498A-8E617D9D1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732" y="4430141"/>
            <a:ext cx="7836532" cy="159601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CBDF0E6-CDFD-B092-1FED-79DFA6C4C4A5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4" name="Image 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618F7BAC-5906-B9B5-3C1B-F6BE23B54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7085D3D-CD44-C838-A4DC-84ACF100184B}"/>
              </a:ext>
            </a:extLst>
          </p:cNvPr>
          <p:cNvSpPr txBox="1"/>
          <p:nvPr/>
        </p:nvSpPr>
        <p:spPr>
          <a:xfrm>
            <a:off x="11750041" y="6566897"/>
            <a:ext cx="4968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38/39</a:t>
            </a:r>
            <a:endParaRPr lang="fr-CH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CFA50D1-89C6-9828-86CC-A5866545CCCA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</p:spTree>
    <p:extLst>
      <p:ext uri="{BB962C8B-B14F-4D97-AF65-F5344CB8AC3E}">
        <p14:creationId xmlns:p14="http://schemas.microsoft.com/office/powerpoint/2010/main" val="2153379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47CC-C9B3-D490-0514-7718EEBE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57312-85DE-9FA4-9EB7-7B2C24C9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– </a:t>
            </a:r>
            <a:r>
              <a:rPr lang="fr-FR" dirty="0" err="1"/>
              <a:t>Detailed</a:t>
            </a:r>
            <a:r>
              <a:rPr lang="fr-FR" dirty="0"/>
              <a:t> BRUSH</a:t>
            </a:r>
            <a:endParaRPr lang="fr-CH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35B8ED3-586B-0D71-B3E3-2665D6D7C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23" y="1557338"/>
            <a:ext cx="7436953" cy="290768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3D9D27A-25B2-47A7-5F6F-21C426B8C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523" y="4539891"/>
            <a:ext cx="7514456" cy="142275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2490EE8-16C0-1FA4-53A2-D0B8B0B406CE}"/>
              </a:ext>
            </a:extLst>
          </p:cNvPr>
          <p:cNvSpPr txBox="1"/>
          <p:nvPr/>
        </p:nvSpPr>
        <p:spPr>
          <a:xfrm>
            <a:off x="0" y="658100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Maxime Geminiani Welcklen</a:t>
            </a:r>
            <a:endParaRPr lang="fr-CH" sz="1000" dirty="0"/>
          </a:p>
        </p:txBody>
      </p:sp>
      <p:pic>
        <p:nvPicPr>
          <p:cNvPr id="4" name="Image 3" descr="Une image contenant Police, Graphique, Bleu électrique, capture d’écran&#10;&#10;Description générée automatiquement">
            <a:extLst>
              <a:ext uri="{FF2B5EF4-FFF2-40B4-BE49-F238E27FC236}">
                <a16:creationId xmlns:a16="http://schemas.microsoft.com/office/drawing/2014/main" id="{75D6C182-E780-3461-45CC-C132B3F61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90" y="6581000"/>
            <a:ext cx="1052594" cy="27699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07EAFEA-77A4-F5AF-2C66-E7470DBD9BB6}"/>
              </a:ext>
            </a:extLst>
          </p:cNvPr>
          <p:cNvSpPr txBox="1"/>
          <p:nvPr/>
        </p:nvSpPr>
        <p:spPr>
          <a:xfrm>
            <a:off x="11750041" y="6566897"/>
            <a:ext cx="4968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39/39</a:t>
            </a:r>
            <a:endParaRPr lang="fr-CH" sz="105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509CEC-D5CB-5B30-4149-C4DF34DEE6D6}"/>
              </a:ext>
            </a:extLst>
          </p:cNvPr>
          <p:cNvSpPr txBox="1"/>
          <p:nvPr/>
        </p:nvSpPr>
        <p:spPr>
          <a:xfrm>
            <a:off x="4469878" y="6574591"/>
            <a:ext cx="207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Master </a:t>
            </a:r>
            <a:r>
              <a:rPr lang="fr-FR" sz="1000" dirty="0" err="1"/>
              <a:t>Thesis</a:t>
            </a:r>
            <a:r>
              <a:rPr lang="fr-FR" sz="1000" dirty="0"/>
              <a:t> </a:t>
            </a:r>
            <a:r>
              <a:rPr lang="fr-FR" sz="1000" dirty="0" err="1"/>
              <a:t>Defense</a:t>
            </a:r>
            <a:endParaRPr lang="fr-CH" sz="1000" dirty="0"/>
          </a:p>
        </p:txBody>
      </p:sp>
    </p:spTree>
    <p:extLst>
      <p:ext uri="{BB962C8B-B14F-4D97-AF65-F5344CB8AC3E}">
        <p14:creationId xmlns:p14="http://schemas.microsoft.com/office/powerpoint/2010/main" val="99104298"/>
      </p:ext>
    </p:extLst>
  </p:cSld>
  <p:clrMapOvr>
    <a:masterClrMapping/>
  </p:clrMapOvr>
</p:sld>
</file>

<file path=ppt/theme/theme1.xml><?xml version="1.0" encoding="utf-8"?>
<a:theme xmlns:a="http://schemas.openxmlformats.org/drawingml/2006/main" name="Profondeur">
  <a:themeElements>
    <a:clrScheme name="Profondeur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ondeur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ondeu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TM04033923[[fn=Profondeur]]</Template>
  <TotalTime>1204</TotalTime>
  <Words>1185</Words>
  <Application>Microsoft Office PowerPoint</Application>
  <PresentationFormat>Grand écran</PresentationFormat>
  <Paragraphs>388</Paragraphs>
  <Slides>39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Aptos</vt:lpstr>
      <vt:lpstr>Arial</vt:lpstr>
      <vt:lpstr>Corbel</vt:lpstr>
      <vt:lpstr>Profondeur</vt:lpstr>
      <vt:lpstr>Handwriting: Reconstruction of online signal from offline image</vt:lpstr>
      <vt:lpstr>Set, Sort !</vt:lpstr>
      <vt:lpstr>Computer Vision for Historical documents</vt:lpstr>
      <vt:lpstr>Objectives</vt:lpstr>
      <vt:lpstr>Table of contents</vt:lpstr>
      <vt:lpstr>I - Design</vt:lpstr>
      <vt:lpstr>Goal</vt:lpstr>
      <vt:lpstr>Fundationals works</vt:lpstr>
      <vt:lpstr>Data</vt:lpstr>
      <vt:lpstr>Data Processing</vt:lpstr>
      <vt:lpstr>Data Processing</vt:lpstr>
      <vt:lpstr>Data Processing</vt:lpstr>
      <vt:lpstr>Data Processing</vt:lpstr>
      <vt:lpstr>Data Processing</vt:lpstr>
      <vt:lpstr>Data Processing</vt:lpstr>
      <vt:lpstr>Architecture</vt:lpstr>
      <vt:lpstr>Data Augmentation</vt:lpstr>
      <vt:lpstr>Losses and Metrics</vt:lpstr>
      <vt:lpstr>Losses And Metrics</vt:lpstr>
      <vt:lpstr>II – Experiments</vt:lpstr>
      <vt:lpstr>Structural Features</vt:lpstr>
      <vt:lpstr>Impact of Augmentation</vt:lpstr>
      <vt:lpstr>Finding the Best Candidate</vt:lpstr>
      <vt:lpstr>Impact of Training size</vt:lpstr>
      <vt:lpstr>LSTM Ablation study </vt:lpstr>
      <vt:lpstr>III - Results</vt:lpstr>
      <vt:lpstr>Working small signals</vt:lpstr>
      <vt:lpstr>Failures to stop</vt:lpstr>
      <vt:lpstr>Other issues on small signals</vt:lpstr>
      <vt:lpstr>Large signals</vt:lpstr>
      <vt:lpstr>LLM</vt:lpstr>
      <vt:lpstr>Demo</vt:lpstr>
      <vt:lpstr>Future Works</vt:lpstr>
      <vt:lpstr>Return  on Objectives</vt:lpstr>
      <vt:lpstr>Conclusion</vt:lpstr>
      <vt:lpstr>Questions</vt:lpstr>
      <vt:lpstr>Additional slides</vt:lpstr>
      <vt:lpstr>Data – Detailed UNIPEN</vt:lpstr>
      <vt:lpstr>Data – Detailed BRUSH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Welcklen</dc:creator>
  <cp:lastModifiedBy>Maxime Welcklen</cp:lastModifiedBy>
  <cp:revision>9</cp:revision>
  <dcterms:created xsi:type="dcterms:W3CDTF">2025-01-19T10:24:52Z</dcterms:created>
  <dcterms:modified xsi:type="dcterms:W3CDTF">2025-01-20T20:28:07Z</dcterms:modified>
</cp:coreProperties>
</file>